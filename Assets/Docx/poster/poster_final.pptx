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8" r:id="rId2"/>
  </p:sldIdLst>
  <p:sldSz cx="7556500" cy="10693400"/>
  <p:notesSz cx="6858000" cy="9144000"/>
  <p:embeddedFontLst>
    <p:embeddedFont>
      <p:font typeface="Times New Roman Bold" panose="020B0604020202020204" charset="0"/>
      <p:regular r:id="rId3"/>
    </p:embeddedFont>
    <p:embeddedFont>
      <p:font typeface="Times New Roman Italics" panose="020B0604020202020204" charset="0"/>
      <p:regular r:id="rId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200" d="100"/>
          <a:sy n="200" d="100"/>
        </p:scale>
        <p:origin x="30" y="1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font" Target="fonts/font1.fntdata"/><Relationship Id="rId4" Type="http://schemas.openxmlformats.org/officeDocument/2006/relationships/font" Target="fonts/font2.fntdata"/><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a:extLst>
              <a:ext uri="{FF2B5EF4-FFF2-40B4-BE49-F238E27FC236}">
                <a16:creationId xmlns:a16="http://schemas.microsoft.com/office/drawing/2014/main" id="{B014B19E-08C6-3C43-10F9-D525D83A5A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55" y="2640"/>
            <a:ext cx="7556500" cy="10688119"/>
          </a:xfrm>
          <a:prstGeom prst="rect">
            <a:avLst/>
          </a:prstGeom>
        </p:spPr>
      </p:pic>
      <p:sp>
        <p:nvSpPr>
          <p:cNvPr id="10" name="TextBox 97">
            <a:extLst>
              <a:ext uri="{FF2B5EF4-FFF2-40B4-BE49-F238E27FC236}">
                <a16:creationId xmlns:a16="http://schemas.microsoft.com/office/drawing/2014/main" id="{D872F30B-266C-103E-EB5B-3B194A423A4C}"/>
              </a:ext>
            </a:extLst>
          </p:cNvPr>
          <p:cNvSpPr txBox="1"/>
          <p:nvPr/>
        </p:nvSpPr>
        <p:spPr>
          <a:xfrm>
            <a:off x="216000" y="1537199"/>
            <a:ext cx="3420000" cy="468000"/>
          </a:xfrm>
          <a:prstGeom prst="rect">
            <a:avLst/>
          </a:prstGeom>
        </p:spPr>
        <p:txBody>
          <a:bodyPr lIns="0" tIns="0" rIns="0" bIns="0" rtlCol="0" anchor="t" wrap="square">
            <a:spAutoFit/>
          </a:bodyPr>
          <a:lstStyle/>
          <a:p>
            <a:pPr algn="l"/>
            <a:r>
              <a:rPr sz="1100" b="1">
                <a:solidFill>
                  <a:srgbClr val="8B0000"/>
                </a:solidFill>
                <a:latin typeface="Times New Roman"/>
              </a:rPr>
              <a:t>HTC VIVE Ultimate Tracker ve XR Tabanlı Oyunlaştırılmış Alt Ekstremite Hareket Analizi Sistemi</a:t>
            </a:r>
          </a:p>
        </p:txBody>
      </p:sp>
      <p:sp>
        <p:nvSpPr>
          <p:cNvPr id="11" name="TextBox 98">
            <a:extLst>
              <a:ext uri="{FF2B5EF4-FFF2-40B4-BE49-F238E27FC236}">
                <a16:creationId xmlns:a16="http://schemas.microsoft.com/office/drawing/2014/main" id="{F3638913-3818-B54C-5DBA-6B78B65A281C}"/>
              </a:ext>
            </a:extLst>
          </p:cNvPr>
          <p:cNvSpPr txBox="1"/>
          <p:nvPr/>
        </p:nvSpPr>
        <p:spPr>
          <a:xfrm>
            <a:off x="3888000" y="1479600"/>
            <a:ext cx="3420000" cy="522000"/>
          </a:xfrm>
          <a:prstGeom prst="rect">
            <a:avLst/>
          </a:prstGeom>
        </p:spPr>
        <p:txBody>
          <a:bodyPr lIns="0" tIns="0" rIns="0" bIns="0" rtlCol="0" anchor="t" wrap="square">
            <a:spAutoFit/>
          </a:bodyPr>
          <a:lstStyle/>
          <a:p>
            <a:pPr algn="l"/>
            <a:r>
              <a:rPr sz="1000" b="1">
                <a:solidFill>
                  <a:srgbClr val="000000"/>
                </a:solidFill>
                <a:latin typeface="Times New Roman"/>
              </a:rPr>
              <a:t>Yürütücü: Muhammet Çiğdem</a:t>
            </a:r>
          </a:p>
          <a:p>
            <a:pPr algn="l"/>
            <a:r>
              <a:rPr sz="1000" b="1">
                <a:solidFill>
                  <a:srgbClr val="000000"/>
                </a:solidFill>
                <a:latin typeface="Times New Roman"/>
              </a:rPr>
              <a:t>Danışman: Samet Tonyalı</a:t>
            </a:r>
          </a:p>
          <a:p>
            <a:pPr algn="l"/>
            <a:r>
              <a:rPr sz="1000" b="1">
                <a:solidFill>
                  <a:srgbClr val="000000"/>
                </a:solidFill>
                <a:latin typeface="Times New Roman"/>
              </a:rPr>
              <a:t>Ekip: GMÜ Yazılım Mühendisliği</a:t>
            </a:r>
          </a:p>
        </p:txBody>
      </p:sp>
      <p:sp>
        <p:nvSpPr>
          <p:cNvPr id="12" name="TextBox 99">
            <a:extLst>
              <a:ext uri="{FF2B5EF4-FFF2-40B4-BE49-F238E27FC236}">
                <a16:creationId xmlns:a16="http://schemas.microsoft.com/office/drawing/2014/main" id="{6D686EFD-AD59-1F96-8B23-06C87AB90C95}"/>
              </a:ext>
            </a:extLst>
          </p:cNvPr>
          <p:cNvSpPr txBox="1"/>
          <p:nvPr/>
        </p:nvSpPr>
        <p:spPr>
          <a:xfrm>
            <a:off x="306000" y="2988000"/>
            <a:ext cx="3348000" cy="2664000"/>
          </a:xfrm>
          <a:prstGeom prst="rect">
            <a:avLst/>
          </a:prstGeom>
        </p:spPr>
        <p:txBody>
          <a:bodyPr lIns="0" tIns="0" rIns="0" bIns="0" rtlCol="0" anchor="t" wrap="square">
            <a:spAutoFit/>
          </a:bodyPr>
          <a:lstStyle/>
          <a:p>
            <a:pPr algn="l"/>
            <a:r>
              <a:rPr sz="1100" b="1">
                <a:solidFill>
                  <a:srgbClr val="1B2E4A"/>
                </a:solidFill>
                <a:latin typeface="Times New Roman"/>
              </a:rPr>
              <a:t>Özet</a:t>
            </a:r>
          </a:p>
          <a:p>
            <a:pPr algn="just"/>
            <a:r>
              <a:rPr sz="800" b="0">
                <a:solidFill>
                  <a:srgbClr val="000000"/>
                </a:solidFill>
                <a:latin typeface="Times New Roman"/>
              </a:rPr>
              <a:t>Bu çalışmada HTC VIVE Ultimate Tracker ve OpenXR verisini kullanan Unity tabanlı bir XR hareket analizi sistemi geliştirilmiştir. Sistem; kalça ve diz kinematiğini gerçek zamanlı hesaplamakta, tam vücut avatar görselleştirmesi sağlamakta ve oyunlaştırılmış görevler aracılığıyla hareket paternlerini izlemektedir.</a:t>
            </a:r>
          </a:p>
          <a:p>
            <a:pPr algn="just"/>
            <a:r>
              <a:rPr sz="800" b="0">
                <a:solidFill>
                  <a:srgbClr val="000000"/>
                </a:solidFill>
                <a:latin typeface="Times New Roman"/>
              </a:rPr>
              <a:t>Kontrollü iniş, mini squat, tek ayak denge, tek ayak squat ve modifiye anterior reach görevlerinde valgus eğilimi, fleksiyon, reach yüzdesi ve salınım temelli metrikler üretilmektedir. Yapı, tanı koyan bir sistemden çok destekleyici bir hareket tarama prototipi olarak konumlandırılmıştır.</a:t>
            </a:r>
          </a:p>
          <a:p>
            <a:pPr algn="just"/>
            <a:r>
              <a:rPr sz="750" b="0" i="1">
                <a:solidFill>
                  <a:srgbClr val="1B2E4A"/>
                </a:solidFill>
                <a:latin typeface="Times New Roman"/>
              </a:rPr>
              <a:t>Anahtar Kelimeler: Sanal Gerçeklik, Hareket Açıklığı, Alt Ekstremite, HTC VIVE Ultimate Tracker, OpenXR, Oyunlaştırma, Hareket Tarama.</a:t>
            </a:r>
          </a:p>
        </p:txBody>
      </p:sp>
      <p:sp>
        <p:nvSpPr>
          <p:cNvPr id="13" name="TextBox 100">
            <a:extLst>
              <a:ext uri="{FF2B5EF4-FFF2-40B4-BE49-F238E27FC236}">
                <a16:creationId xmlns:a16="http://schemas.microsoft.com/office/drawing/2014/main" id="{723AF9FC-DF63-CE1A-0635-FB13994BD7C9}"/>
              </a:ext>
            </a:extLst>
          </p:cNvPr>
          <p:cNvSpPr txBox="1"/>
          <p:nvPr/>
        </p:nvSpPr>
        <p:spPr>
          <a:xfrm>
            <a:off x="3906000" y="2988000"/>
            <a:ext cx="3348000" cy="2664000"/>
          </a:xfrm>
          <a:prstGeom prst="rect">
            <a:avLst/>
          </a:prstGeom>
        </p:spPr>
        <p:txBody>
          <a:bodyPr lIns="0" tIns="0" rIns="0" bIns="0" rtlCol="0" anchor="t" wrap="square">
            <a:spAutoFit/>
          </a:bodyPr>
          <a:lstStyle/>
          <a:p>
            <a:pPr algn="l"/>
            <a:r>
              <a:rPr sz="1100" b="1">
                <a:solidFill>
                  <a:srgbClr val="1B2E4A"/>
                </a:solidFill>
                <a:latin typeface="Times New Roman"/>
              </a:rPr>
              <a:t>Projenin Materyali ve Yöntemi</a:t>
            </a:r>
          </a:p>
          <a:p>
            <a:pPr algn="l"/>
            <a:r>
              <a:rPr sz="800" b="0">
                <a:solidFill>
                  <a:srgbClr val="000000"/>
                </a:solidFill>
                <a:latin typeface="Times New Roman"/>
              </a:rPr>
              <a:t>• Donanım: HTC VIVE Ultimate Tracker (pelvis, femur, tibia), XR başlık ve kontrolcü.</a:t>
            </a:r>
          </a:p>
          <a:p>
            <a:pPr algn="l"/>
            <a:r>
              <a:rPr sz="800" b="0">
                <a:solidFill>
                  <a:srgbClr val="000000"/>
                </a:solidFill>
                <a:latin typeface="Times New Roman"/>
              </a:rPr>
              <a:t>• Yazılım: Unity 6, OpenXR ve VIVE eklentileri.</a:t>
            </a:r>
          </a:p>
          <a:p>
            <a:pPr algn="l"/>
            <a:r>
              <a:rPr sz="800" b="0">
                <a:solidFill>
                  <a:srgbClr val="000000"/>
                </a:solidFill>
                <a:latin typeface="Times New Roman"/>
              </a:rPr>
              <a:t>• Algoritma: İleri (FK) ve ters (IK) kinematik çözücüler; kalibrasyon bazlı sensör-kemik ofseti.</a:t>
            </a:r>
          </a:p>
          <a:p>
            <a:pPr algn="l"/>
            <a:r>
              <a:rPr sz="800" b="0">
                <a:solidFill>
                  <a:srgbClr val="000000"/>
                </a:solidFill>
                <a:latin typeface="Times New Roman"/>
              </a:rPr>
              <a:t>• Mimari: OpenXR Cihaz → Toplama / Eşleme → Kinematik Çözüm → Uygulama (görev motoru + UI).</a:t>
            </a:r>
          </a:p>
          <a:p>
            <a:pPr algn="just"/>
            <a:r>
              <a:rPr sz="800" b="0">
                <a:solidFill>
                  <a:srgbClr val="000000"/>
                </a:solidFill>
                <a:latin typeface="Times New Roman"/>
              </a:rPr>
              <a:t>Kalibrasyon ilişkisi: Q_offset = Q_T⁻¹ · Q_B   ;   Çalışma anı: Q_B^t = Q_T^t · Q_offset.</a:t>
            </a:r>
          </a:p>
          <a:p>
            <a:pPr algn="just"/>
            <a:r>
              <a:rPr sz="800" b="0">
                <a:solidFill>
                  <a:srgbClr val="000000"/>
                </a:solidFill>
                <a:latin typeface="Times New Roman"/>
              </a:rPr>
              <a:t>Kalça ve diz lokal rotasyonları hiyerarşik FK ile parent-child kemik dönüşümleri üzerinden hesaplanmaktadır.</a:t>
            </a:r>
          </a:p>
        </p:txBody>
      </p:sp>
      <p:sp>
        <p:nvSpPr>
          <p:cNvPr id="14" name="TextBox 101">
            <a:extLst>
              <a:ext uri="{FF2B5EF4-FFF2-40B4-BE49-F238E27FC236}">
                <a16:creationId xmlns:a16="http://schemas.microsoft.com/office/drawing/2014/main" id="{0D6B92D0-7247-A84E-6C87-35ABBA33E0FC}"/>
              </a:ext>
            </a:extLst>
          </p:cNvPr>
          <p:cNvSpPr txBox="1"/>
          <p:nvPr/>
        </p:nvSpPr>
        <p:spPr>
          <a:xfrm>
            <a:off x="306000" y="5742000"/>
            <a:ext cx="3348000" cy="2916000"/>
          </a:xfrm>
          <a:prstGeom prst="rect">
            <a:avLst/>
          </a:prstGeom>
        </p:spPr>
        <p:txBody>
          <a:bodyPr lIns="0" tIns="0" rIns="0" bIns="0" rtlCol="0" anchor="t" wrap="square">
            <a:spAutoFit/>
          </a:bodyPr>
          <a:lstStyle/>
          <a:p>
            <a:pPr algn="l"/>
            <a:r>
              <a:rPr sz="1100" b="1">
                <a:solidFill>
                  <a:srgbClr val="1B2E4A"/>
                </a:solidFill>
                <a:latin typeface="Times New Roman"/>
              </a:rPr>
              <a:t>Amaç ve Hedefler</a:t>
            </a:r>
          </a:p>
          <a:p>
            <a:pPr algn="just"/>
            <a:r>
              <a:rPr sz="800" b="0">
                <a:solidFill>
                  <a:srgbClr val="000000"/>
                </a:solidFill>
                <a:latin typeface="Times New Roman"/>
              </a:rPr>
              <a:t>Amaç: Alt ekstremite hareket analizini XR ortamına taşıyarak sensör verisi, avatar görselleştirme, görev akışı ve kullanıcı geri bildirimini tek yazılım mimarisinde birleştirmek.</a:t>
            </a:r>
          </a:p>
          <a:p>
            <a:pPr algn="l"/>
            <a:r>
              <a:rPr sz="900" b="1">
                <a:solidFill>
                  <a:srgbClr val="1B2E4A"/>
                </a:solidFill>
                <a:latin typeface="Times New Roman"/>
              </a:rPr>
              <a:t>Hedefler</a:t>
            </a:r>
          </a:p>
          <a:p>
            <a:pPr algn="l"/>
            <a:r>
              <a:rPr sz="800" b="0">
                <a:solidFill>
                  <a:srgbClr val="000000"/>
                </a:solidFill>
                <a:latin typeface="Times New Roman"/>
              </a:rPr>
              <a:t>• Gerçek zamanlı kalça / diz kinematiği üretimi.</a:t>
            </a:r>
          </a:p>
          <a:p>
            <a:pPr algn="l"/>
            <a:r>
              <a:rPr sz="800" b="0">
                <a:solidFill>
                  <a:srgbClr val="000000"/>
                </a:solidFill>
                <a:latin typeface="Times New Roman"/>
              </a:rPr>
              <a:t>• Tam vücut avatar üzerinden görsel geri bildirim.</a:t>
            </a:r>
          </a:p>
          <a:p>
            <a:pPr algn="l"/>
            <a:r>
              <a:rPr sz="800" b="0">
                <a:solidFill>
                  <a:srgbClr val="000000"/>
                </a:solidFill>
                <a:latin typeface="Times New Roman"/>
              </a:rPr>
              <a:t>• Görev tabanlı tarama akışı (LESS ve Y-Balance kavramsal referans).</a:t>
            </a:r>
          </a:p>
          <a:p>
            <a:pPr algn="l"/>
            <a:r>
              <a:rPr sz="800" b="0">
                <a:solidFill>
                  <a:srgbClr val="000000"/>
                </a:solidFill>
                <a:latin typeface="Times New Roman"/>
              </a:rPr>
              <a:t>• Türkçe yorum ve risk alanı çıktıları.</a:t>
            </a:r>
          </a:p>
          <a:p>
            <a:pPr algn="l"/>
            <a:r>
              <a:rPr sz="800" b="0">
                <a:solidFill>
                  <a:srgbClr val="000000"/>
                </a:solidFill>
                <a:latin typeface="Times New Roman"/>
              </a:rPr>
              <a:t>• Modüler ve sürdürülebilir yazılım yapısı.</a:t>
            </a:r>
          </a:p>
          <a:p>
            <a:pPr algn="just"/>
            <a:r>
              <a:rPr sz="750" b="0" i="1">
                <a:solidFill>
                  <a:srgbClr val="1B2E4A"/>
                </a:solidFill>
                <a:latin typeface="Times New Roman"/>
              </a:rPr>
              <a:t>Beklenen başarı ölçütleri: düşük gecikmeli açı akışı, kararlı IK temsili, görev başına yorumlanabilir metrik üretimi.</a:t>
            </a:r>
          </a:p>
        </p:txBody>
      </p:sp>
      <p:sp>
        <p:nvSpPr>
          <p:cNvPr id="15" name="TextBox 104">
            <a:extLst>
              <a:ext uri="{FF2B5EF4-FFF2-40B4-BE49-F238E27FC236}">
                <a16:creationId xmlns:a16="http://schemas.microsoft.com/office/drawing/2014/main" id="{4DA3D710-1394-3FDA-EAEA-637672D6E8BC}"/>
              </a:ext>
            </a:extLst>
          </p:cNvPr>
          <p:cNvSpPr txBox="1"/>
          <p:nvPr/>
        </p:nvSpPr>
        <p:spPr>
          <a:xfrm>
            <a:off x="3906000" y="5742000"/>
            <a:ext cx="3348000" cy="2916000"/>
          </a:xfrm>
          <a:prstGeom prst="rect">
            <a:avLst/>
          </a:prstGeom>
        </p:spPr>
        <p:txBody>
          <a:bodyPr lIns="0" tIns="0" rIns="0" bIns="0" rtlCol="0" anchor="t" wrap="square">
            <a:spAutoFit/>
          </a:bodyPr>
          <a:lstStyle/>
          <a:p>
            <a:pPr algn="l"/>
            <a:r>
              <a:rPr sz="1100" b="1">
                <a:solidFill>
                  <a:srgbClr val="1B2E4A"/>
                </a:solidFill>
                <a:latin typeface="Times New Roman"/>
              </a:rPr>
              <a:t>Görev × Metrik Özeti</a:t>
            </a:r>
          </a:p>
          <a:p>
            <a:pPr algn="l"/>
            <a:r>
              <a:rPr sz="750" b="1">
                <a:solidFill>
                  <a:srgbClr val="1B2E4A"/>
                </a:solidFill>
                <a:latin typeface="Consolas"/>
              </a:rPr>
              <a:t>Görev          |  Birincil Metrikler            |  Yorumlanan Patern</a:t>
            </a:r>
          </a:p>
          <a:p>
            <a:pPr algn="l"/>
            <a:r>
              <a:rPr sz="750" b="0">
                <a:solidFill>
                  <a:srgbClr val="000000"/>
                </a:solidFill>
                <a:latin typeface="Consolas"/>
              </a:rPr>
              <a:t>Kontrollü iniş |  Pik valgus, fleksiyon, sway   |  Yük kabulü, iniş kalitesi</a:t>
            </a:r>
          </a:p>
          <a:p>
            <a:pPr algn="l"/>
            <a:r>
              <a:rPr sz="750" b="0">
                <a:solidFill>
                  <a:srgbClr val="000000"/>
                </a:solidFill>
                <a:latin typeface="Consolas"/>
              </a:rPr>
              <a:t>Mini squat     |  Diz fleksiyonu, valgus        |  Çift ayak yüklenmesi</a:t>
            </a:r>
          </a:p>
          <a:p>
            <a:pPr algn="l"/>
            <a:r>
              <a:rPr sz="750" b="0">
                <a:solidFill>
                  <a:srgbClr val="000000"/>
                </a:solidFill>
                <a:latin typeface="Consolas"/>
              </a:rPr>
              <a:t>Tek ayak squat |  Valgus, fleksiyon, sway       |  Tek taraflı kontrol</a:t>
            </a:r>
          </a:p>
          <a:p>
            <a:pPr algn="l"/>
            <a:r>
              <a:rPr sz="750" b="0">
                <a:solidFill>
                  <a:srgbClr val="000000"/>
                </a:solidFill>
                <a:latin typeface="Consolas"/>
              </a:rPr>
              <a:t>Mod. ant.reach |  Reach %, stance valgusu       |  Dinamik denge</a:t>
            </a:r>
          </a:p>
          <a:p>
            <a:pPr algn="l"/>
            <a:r>
              <a:rPr sz="750" b="0">
                <a:solidFill>
                  <a:srgbClr val="000000"/>
                </a:solidFill>
                <a:latin typeface="Consolas"/>
              </a:rPr>
              <a:t>Tek ayak denge |  Pelvis sway RMS, hız          |  Denge kontrolü</a:t>
            </a:r>
          </a:p>
          <a:p>
            <a:pPr algn="l"/>
            <a:r>
              <a:rPr sz="750" b="0">
                <a:solidFill>
                  <a:srgbClr val="000000"/>
                </a:solidFill>
                <a:latin typeface="Consolas"/>
              </a:rPr>
              <a:t>Gövde eğimi    |  Trunk yönelimi                |  Proksimal kontrol</a:t>
            </a:r>
          </a:p>
          <a:p>
            <a:pPr algn="just"/>
            <a:r>
              <a:rPr sz="800" b="0">
                <a:solidFill>
                  <a:srgbClr val="000000"/>
                </a:solidFill>
                <a:latin typeface="Times New Roman"/>
              </a:rPr>
              <a:t>Reach % = d_reach / L_limb × 100   ;   Sway_RMS = √( (1/N) Σ (x_i − x̄)² )</a:t>
            </a:r>
          </a:p>
        </p:txBody>
      </p:sp>
      <p:sp>
        <p:nvSpPr>
          <p:cNvPr id="16" name="TextBox 102">
            <a:extLst>
              <a:ext uri="{FF2B5EF4-FFF2-40B4-BE49-F238E27FC236}">
                <a16:creationId xmlns:a16="http://schemas.microsoft.com/office/drawing/2014/main" id="{FE02CEE8-F902-030A-DBEA-B1D5D2E453BE}"/>
              </a:ext>
            </a:extLst>
          </p:cNvPr>
          <p:cNvSpPr txBox="1"/>
          <p:nvPr/>
        </p:nvSpPr>
        <p:spPr>
          <a:xfrm>
            <a:off x="306000" y="8748000"/>
            <a:ext cx="3348000" cy="1620000"/>
          </a:xfrm>
          <a:prstGeom prst="rect">
            <a:avLst/>
          </a:prstGeom>
        </p:spPr>
        <p:txBody>
          <a:bodyPr lIns="0" tIns="0" rIns="0" bIns="0" rtlCol="0" anchor="t" wrap="square">
            <a:spAutoFit/>
          </a:bodyPr>
          <a:lstStyle/>
          <a:p>
            <a:pPr algn="l"/>
            <a:r>
              <a:rPr sz="1100" b="1">
                <a:solidFill>
                  <a:srgbClr val="1B2E4A"/>
                </a:solidFill>
                <a:latin typeface="Times New Roman"/>
              </a:rPr>
              <a:t>Sonuç ve Öneriler</a:t>
            </a:r>
          </a:p>
          <a:p>
            <a:pPr algn="just"/>
            <a:r>
              <a:rPr sz="800" b="0">
                <a:solidFill>
                  <a:srgbClr val="000000"/>
                </a:solidFill>
                <a:latin typeface="Times New Roman"/>
              </a:rPr>
              <a:t>Sistem; tracker verisinden gerçek zamanlı alt ekstremite kinematiği üretebilmekte, eşzamanlı avatar sürüşü ve görev tabanlı metrik üretimi sağlamaktadır.</a:t>
            </a:r>
          </a:p>
          <a:p>
            <a:pPr algn="just"/>
            <a:r>
              <a:rPr sz="800" b="0">
                <a:solidFill>
                  <a:srgbClr val="000000"/>
                </a:solidFill>
                <a:latin typeface="Times New Roman"/>
              </a:rPr>
              <a:t>Hint kararlılığı, bind-pose sıfırlaması, uzuv oran uyumu ve shin-tracker temsili gibi pratik IK problemlerine yönelik iyileştirmeler belgelenmiştir.</a:t>
            </a:r>
          </a:p>
          <a:p>
            <a:pPr algn="just"/>
            <a:r>
              <a:rPr sz="800" b="0">
                <a:solidFill>
                  <a:srgbClr val="000000"/>
                </a:solidFill>
                <a:latin typeface="Times New Roman"/>
              </a:rPr>
              <a:t>Mevcut çıktı tanı amaçlı değildir. Klinik geçerlilik için referans sistemle nicel doğrulama, görev eşiklerinin kullanıcı grubuna kalibrasyonu ve uzman görüşüyle desteklenmiş örnek veri toplanması önerilmektedir.</a:t>
            </a:r>
          </a:p>
        </p:txBody>
      </p:sp>
      <p:sp>
        <p:nvSpPr>
          <p:cNvPr id="17" name="TextBox 103">
            <a:extLst>
              <a:ext uri="{FF2B5EF4-FFF2-40B4-BE49-F238E27FC236}">
                <a16:creationId xmlns:a16="http://schemas.microsoft.com/office/drawing/2014/main" id="{341B8EF1-679A-2BFE-B318-FE53AC18E689}"/>
              </a:ext>
            </a:extLst>
          </p:cNvPr>
          <p:cNvSpPr txBox="1"/>
          <p:nvPr/>
        </p:nvSpPr>
        <p:spPr>
          <a:xfrm>
            <a:off x="3906000" y="8748000"/>
            <a:ext cx="3348000" cy="1620000"/>
          </a:xfrm>
          <a:prstGeom prst="rect">
            <a:avLst/>
          </a:prstGeom>
        </p:spPr>
        <p:txBody>
          <a:bodyPr lIns="0" tIns="0" rIns="0" bIns="0" rtlCol="0" anchor="t" wrap="square">
            <a:spAutoFit/>
          </a:bodyPr>
          <a:lstStyle/>
          <a:p>
            <a:pPr algn="l"/>
            <a:r>
              <a:rPr sz="1100" b="1">
                <a:solidFill>
                  <a:srgbClr val="1B2E4A"/>
                </a:solidFill>
                <a:latin typeface="Times New Roman"/>
              </a:rPr>
              <a:t>Kaynaklar</a:t>
            </a:r>
          </a:p>
          <a:p>
            <a:pPr algn="l"/>
            <a:r>
              <a:rPr sz="700" b="0">
                <a:solidFill>
                  <a:srgbClr val="000000"/>
                </a:solidFill>
                <a:latin typeface="Times New Roman"/>
              </a:rPr>
              <a:t>[1] Norkin &amp; White. Measurement of Joint Motion. F.A. Davis, 2016.</a:t>
            </a:r>
          </a:p>
          <a:p>
            <a:pPr algn="l"/>
            <a:r>
              <a:rPr sz="700" b="0">
                <a:solidFill>
                  <a:srgbClr val="000000"/>
                </a:solidFill>
                <a:latin typeface="Times New Roman"/>
              </a:rPr>
              <a:t>[2] Niehorster ve ark. HTC Vive tracking accuracy. i-Perception 8(3), 2017.</a:t>
            </a:r>
          </a:p>
          <a:p>
            <a:pPr algn="l"/>
            <a:r>
              <a:rPr sz="700" b="0">
                <a:solidFill>
                  <a:srgbClr val="000000"/>
                </a:solidFill>
                <a:latin typeface="Times New Roman"/>
              </a:rPr>
              <a:t>[3] HTC. VIVE Ultimate Tracker Specifications, 2024.</a:t>
            </a:r>
          </a:p>
          <a:p>
            <a:pPr algn="l"/>
            <a:r>
              <a:rPr sz="700" b="0">
                <a:solidFill>
                  <a:srgbClr val="000000"/>
                </a:solidFill>
                <a:latin typeface="Times New Roman"/>
              </a:rPr>
              <a:t>[4] Renström ve ark. Non-contact ACL injuries. Br. J. Sports Med. 42(6), 2008.</a:t>
            </a:r>
          </a:p>
          <a:p>
            <a:pPr algn="l"/>
            <a:r>
              <a:rPr sz="700" b="0">
                <a:solidFill>
                  <a:srgbClr val="000000"/>
                </a:solidFill>
                <a:latin typeface="Times New Roman"/>
              </a:rPr>
              <a:t>[5] Hanzlíková ve ark. LESS systematic review. J. Sci. Med. Sport 24(3), 2021.</a:t>
            </a:r>
          </a:p>
          <a:p>
            <a:pPr algn="l"/>
            <a:r>
              <a:rPr sz="700" b="0">
                <a:solidFill>
                  <a:srgbClr val="000000"/>
                </a:solidFill>
                <a:latin typeface="Times New Roman"/>
              </a:rPr>
              <a:t>[6] Kenwright. CCD inverse kinematics. J. Graphics Tools 16(1), 2012.</a:t>
            </a:r>
          </a:p>
        </p:txBody>
      </p:sp>
    </p:spTree>
    <p:extLst>
      <p:ext uri="{BB962C8B-B14F-4D97-AF65-F5344CB8AC3E}">
        <p14:creationId xmlns:p14="http://schemas.microsoft.com/office/powerpoint/2010/main" val="19650282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212</Words>
  <Application>Microsoft Office PowerPoint</Application>
  <PresentationFormat>Özel</PresentationFormat>
  <Paragraphs>27</Paragraphs>
  <Slides>1</Slides>
  <Notes>0</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1</vt:i4>
      </vt:variant>
    </vt:vector>
  </HeadingPairs>
  <TitlesOfParts>
    <vt:vector size="7" baseType="lpstr">
      <vt:lpstr>Times New Roman Bold</vt:lpstr>
      <vt:lpstr>Times New Roman Italics</vt:lpstr>
      <vt:lpstr>Arial</vt:lpstr>
      <vt:lpstr>Times New Roman</vt:lpstr>
      <vt:lpstr>Calibri</vt:lpstr>
      <vt:lpstr>Office Theme</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WiN11</dc:creator>
  <cp:lastModifiedBy>mert özdemir</cp:lastModifiedBy>
  <cp:revision>3</cp:revision>
  <dcterms:created xsi:type="dcterms:W3CDTF">2006-08-16T00:00:00Z</dcterms:created>
  <dcterms:modified xsi:type="dcterms:W3CDTF">2026-05-14T06:45:14Z</dcterms:modified>
  <dc:identifier>DAHI_AO0luE</dc:identifier>
</cp:coreProperties>
</file>