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Times New Roman Bold"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font" Target="fonts/font1.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jpe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7.jpe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8.jpe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9.jpeg"/><Relationship Id="rId6" Type="http://schemas.openxmlformats.org/officeDocument/2006/relationships/image" Target="../media/image3.png"/><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10.jpeg"/><Relationship Id="rId6" Type="http://schemas.openxmlformats.org/officeDocument/2006/relationships/image" Target="../media/image3.png"/><Relationship Id="rId7" Type="http://schemas.openxmlformats.org/officeDocument/2006/relationships/image" Target="../media/image12.jpg"/><Relationship Id="rId8" Type="http://schemas.openxmlformats.org/officeDocument/2006/relationships/image" Target="../media/image13.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r="-53320" b="-9027"/>
            </a:stretch>
          </a:blipFill>
        </p:spPr>
      </p:sp>
      <p:grpSp>
        <p:nvGrpSpPr>
          <p:cNvPr id="3" name="Group 3"/>
          <p:cNvGrpSpPr/>
          <p:nvPr/>
        </p:nvGrpSpPr>
        <p:grpSpPr>
          <a:xfrm>
            <a:off x="17387750" y="9776690"/>
            <a:ext cx="57150" cy="538885"/>
            <a:chOff x="0" y="0"/>
            <a:chExt cx="76200" cy="718513"/>
          </a:xfrm>
        </p:grpSpPr>
        <p:sp>
          <p:nvSpPr>
            <p:cNvPr id="4" name="Freeform 4"/>
            <p:cNvSpPr/>
            <p:nvPr/>
          </p:nvSpPr>
          <p:spPr>
            <a:xfrm>
              <a:off x="0" y="38100"/>
              <a:ext cx="76200" cy="642366"/>
            </a:xfrm>
            <a:custGeom>
              <a:avLst/>
              <a:gdLst/>
              <a:ahLst/>
              <a:cxnLst/>
              <a:rect l="l" t="t" r="r" b="b"/>
              <a:pathLst>
                <a:path w="76200" h="642366">
                  <a:moveTo>
                    <a:pt x="0" y="642366"/>
                  </a:moveTo>
                  <a:lnTo>
                    <a:pt x="0" y="0"/>
                  </a:lnTo>
                  <a:lnTo>
                    <a:pt x="76200" y="0"/>
                  </a:lnTo>
                  <a:lnTo>
                    <a:pt x="76200" y="642366"/>
                  </a:lnTo>
                  <a:close/>
                </a:path>
              </a:pathLst>
            </a:custGeom>
            <a:solidFill>
              <a:srgbClr val="CF0A2D"/>
            </a:solidFill>
          </p:spPr>
        </p:sp>
      </p:grpSp>
      <p:sp>
        <p:nvSpPr>
          <p:cNvPr id="5" name="Freeform 5"/>
          <p:cNvSpPr/>
          <p:nvPr/>
        </p:nvSpPr>
        <p:spPr>
          <a:xfrm>
            <a:off x="-23181" y="-397564"/>
            <a:ext cx="888647" cy="10889239"/>
          </a:xfrm>
          <a:custGeom>
            <a:avLst/>
            <a:gdLst/>
            <a:ahLst/>
            <a:cxnLst/>
            <a:rect l="l" t="t" r="r" b="b"/>
            <a:pathLst>
              <a:path w="888647" h="10889239">
                <a:moveTo>
                  <a:pt x="0" y="0"/>
                </a:moveTo>
                <a:lnTo>
                  <a:pt x="888646" y="0"/>
                </a:lnTo>
                <a:lnTo>
                  <a:pt x="888646" y="10889239"/>
                </a:lnTo>
                <a:lnTo>
                  <a:pt x="0" y="1088923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935146" y="-28575"/>
            <a:ext cx="69019" cy="10344150"/>
            <a:chOff x="0" y="0"/>
            <a:chExt cx="92025" cy="13792200"/>
          </a:xfrm>
        </p:grpSpPr>
        <p:sp>
          <p:nvSpPr>
            <p:cNvPr id="7" name="Freeform 7"/>
            <p:cNvSpPr/>
            <p:nvPr/>
          </p:nvSpPr>
          <p:spPr>
            <a:xfrm>
              <a:off x="0" y="38100"/>
              <a:ext cx="92075" cy="13716000"/>
            </a:xfrm>
            <a:custGeom>
              <a:avLst/>
              <a:gdLst/>
              <a:ahLst/>
              <a:cxnLst/>
              <a:rect l="l" t="t" r="r" b="b"/>
              <a:pathLst>
                <a:path w="92075" h="13716000">
                  <a:moveTo>
                    <a:pt x="15875" y="13716000"/>
                  </a:moveTo>
                  <a:lnTo>
                    <a:pt x="0" y="0"/>
                  </a:lnTo>
                  <a:lnTo>
                    <a:pt x="76200" y="0"/>
                  </a:lnTo>
                  <a:lnTo>
                    <a:pt x="92075" y="13716000"/>
                  </a:lnTo>
                  <a:close/>
                </a:path>
              </a:pathLst>
            </a:custGeom>
            <a:solidFill>
              <a:srgbClr val="CF0A2D"/>
            </a:solidFill>
          </p:spPr>
        </p:sp>
      </p:grpSp>
      <p:sp>
        <p:nvSpPr>
          <p:cNvPr id="8" name="TextBox 8"/>
          <p:cNvSpPr txBox="1"/>
          <p:nvPr/>
        </p:nvSpPr>
        <p:spPr>
          <a:xfrm>
            <a:off x="17659350" y="9730397"/>
            <a:ext cx="420982" cy="493167"/>
          </a:xfrm>
          <a:prstGeom prst="rect">
            <a:avLst/>
          </a:prstGeom>
        </p:spPr>
        <p:txBody>
          <a:bodyPr lIns="0" tIns="0" rIns="0" bIns="0" rtlCol="0" anchor="t">
            <a:spAutoFit/>
          </a:bodyPr>
          <a:lstStyle/>
          <a:p>
            <a:pPr algn="ctr">
              <a:lnSpc>
                <a:spcPts val="3361"/>
              </a:lnSpc>
            </a:pPr>
            <a:r>
              <a:rPr lang="en-US" sz="2401" b="1">
                <a:solidFill>
                  <a:srgbClr val="CF0A2D"/>
                </a:solidFill>
                <a:latin typeface="Times New Roman Bold"/>
                <a:ea typeface="Times New Roman Bold"/>
                <a:cs typeface="Times New Roman Bold"/>
                <a:sym typeface="Times New Roman Bold"/>
              </a:rPr>
              <a:t>1</a:t>
            </a:r>
          </a:p>
        </p:txBody>
      </p:sp>
      <p:sp>
        <p:nvSpPr>
          <p:cNvPr id="9" name="TextBox 9"/>
          <p:cNvSpPr txBox="1"/>
          <p:nvPr/>
        </p:nvSpPr>
        <p:spPr>
          <a:xfrm rot="-5400000">
            <a:off x="-1025645" y="8533172"/>
            <a:ext cx="2718073" cy="415417"/>
          </a:xfrm>
          <a:prstGeom prst="rect">
            <a:avLst/>
          </a:prstGeom>
        </p:spPr>
        <p:txBody>
          <a:bodyPr lIns="0" tIns="0" rIns="0" bIns="0" rtlCol="0" anchor="t">
            <a:spAutoFit/>
          </a:bodyPr>
          <a:lstStyle/>
          <a:p>
            <a:pPr algn="l">
              <a:lnSpc>
                <a:spcPts val="3358"/>
              </a:lnSpc>
            </a:pPr>
            <a:r>
              <a:rPr lang="en-US" sz="2400" b="1">
                <a:solidFill>
                  <a:srgbClr val="FDF8F9"/>
                </a:solidFill>
                <a:latin typeface="Times New Roman Bold"/>
                <a:ea typeface="Times New Roman Bold"/>
                <a:cs typeface="Times New Roman Bold"/>
                <a:sym typeface="Times New Roman Bold"/>
              </a:rPr>
              <a:t>SUNUM ŞABLONU</a:t>
            </a:r>
          </a:p>
        </p:txBody>
      </p:sp>
      <p:sp>
        <p:nvSpPr>
          <p:cNvPr id="10" name="TextBox 10"/>
          <p:cNvSpPr txBox="1"/>
          <p:nvPr/>
        </p:nvSpPr>
        <p:spPr>
          <a:xfrm rot="-5400000">
            <a:off x="-2289137" y="1940443"/>
            <a:ext cx="5322813" cy="399148"/>
          </a:xfrm>
          <a:prstGeom prst="rect">
            <a:avLst/>
          </a:prstGeom>
        </p:spPr>
        <p:txBody>
          <a:bodyPr lIns="0" tIns="0" rIns="0" bIns="0" rtlCol="0" anchor="t">
            <a:spAutoFit/>
          </a:bodyPr>
          <a:lstStyle/>
          <a:p>
            <a:pPr marL="259080" lvl="1" algn="l">
              <a:lnSpc>
                <a:spcPts val="3358"/>
              </a:lnSpc>
            </a:pPr>
            <a:r>
              <a:rPr lang="tr-TR" sz="2400" b="1" dirty="0">
                <a:solidFill>
                  <a:srgbClr val="FDF8F9"/>
                </a:solidFill>
                <a:latin typeface="Times New Roman Bold"/>
                <a:ea typeface="Times New Roman Bold"/>
                <a:cs typeface="Times New Roman Bold"/>
                <a:sym typeface="Times New Roman Bold"/>
              </a:rPr>
              <a:t>2.</a:t>
            </a:r>
            <a:r>
              <a:rPr lang="en-US" sz="2400" b="1" dirty="0">
                <a:solidFill>
                  <a:srgbClr val="FDF8F9"/>
                </a:solidFill>
                <a:latin typeface="Times New Roman Bold"/>
                <a:ea typeface="Times New Roman Bold"/>
                <a:cs typeface="Times New Roman Bold"/>
                <a:sym typeface="Times New Roman Bold"/>
              </a:rPr>
              <a:t>PROJE VADİ PROJE PAZARI</a:t>
            </a:r>
          </a:p>
        </p:txBody>
      </p:sp>
      <p:sp>
        <p:nvSpPr>
          <p:cNvPr id="11" name="Freeform 11"/>
          <p:cNvSpPr/>
          <p:nvPr/>
        </p:nvSpPr>
        <p:spPr>
          <a:xfrm>
            <a:off x="1461040" y="558190"/>
            <a:ext cx="2466064" cy="1744740"/>
          </a:xfrm>
          <a:custGeom>
            <a:avLst/>
            <a:gdLst/>
            <a:ahLst/>
            <a:cxnLst/>
            <a:rect l="l" t="t" r="r" b="b"/>
            <a:pathLst>
              <a:path w="2466064" h="1744740">
                <a:moveTo>
                  <a:pt x="0" y="0"/>
                </a:moveTo>
                <a:lnTo>
                  <a:pt x="2466064" y="0"/>
                </a:lnTo>
                <a:lnTo>
                  <a:pt x="2466064" y="1744740"/>
                </a:lnTo>
                <a:lnTo>
                  <a:pt x="0" y="1744740"/>
                </a:lnTo>
                <a:lnTo>
                  <a:pt x="0" y="0"/>
                </a:lnTo>
                <a:close/>
              </a:path>
            </a:pathLst>
          </a:custGeom>
          <a:blipFill>
            <a:blip r:embed="rId4">
              <a:alphaModFix amt="80000"/>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87750" y="9776690"/>
            <a:ext cx="57150" cy="538885"/>
            <a:chOff x="0" y="0"/>
            <a:chExt cx="76200" cy="718513"/>
          </a:xfrm>
        </p:grpSpPr>
        <p:sp>
          <p:nvSpPr>
            <p:cNvPr id="3" name="Freeform 3"/>
            <p:cNvSpPr/>
            <p:nvPr/>
          </p:nvSpPr>
          <p:spPr>
            <a:xfrm>
              <a:off x="0" y="38100"/>
              <a:ext cx="76200" cy="642366"/>
            </a:xfrm>
            <a:custGeom>
              <a:avLst/>
              <a:gdLst/>
              <a:ahLst/>
              <a:cxnLst/>
              <a:rect l="l" t="t" r="r" b="b"/>
              <a:pathLst>
                <a:path w="76200" h="642366">
                  <a:moveTo>
                    <a:pt x="0" y="642366"/>
                  </a:moveTo>
                  <a:lnTo>
                    <a:pt x="0" y="0"/>
                  </a:lnTo>
                  <a:lnTo>
                    <a:pt x="76200" y="0"/>
                  </a:lnTo>
                  <a:lnTo>
                    <a:pt x="76200" y="642366"/>
                  </a:lnTo>
                  <a:close/>
                </a:path>
              </a:pathLst>
            </a:custGeom>
            <a:solidFill>
              <a:srgbClr val="CF0A2D"/>
            </a:solidFill>
          </p:spPr>
        </p:sp>
      </p:grpSp>
      <p:sp>
        <p:nvSpPr>
          <p:cNvPr id="4" name="Freeform 4"/>
          <p:cNvSpPr/>
          <p:nvPr/>
        </p:nvSpPr>
        <p:spPr>
          <a:xfrm>
            <a:off x="-23181" y="-397564"/>
            <a:ext cx="888647" cy="10889239"/>
          </a:xfrm>
          <a:custGeom>
            <a:avLst/>
            <a:gdLst/>
            <a:ahLst/>
            <a:cxnLst/>
            <a:rect l="l" t="t" r="r" b="b"/>
            <a:pathLst>
              <a:path w="888647" h="10889239">
                <a:moveTo>
                  <a:pt x="0" y="0"/>
                </a:moveTo>
                <a:lnTo>
                  <a:pt x="888646" y="0"/>
                </a:lnTo>
                <a:lnTo>
                  <a:pt x="888646" y="10889239"/>
                </a:lnTo>
                <a:lnTo>
                  <a:pt x="0" y="10889239"/>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990600" y="-19050"/>
            <a:ext cx="57150" cy="10794124"/>
            <a:chOff x="0" y="0"/>
            <a:chExt cx="76200" cy="14392165"/>
          </a:xfrm>
        </p:grpSpPr>
        <p:sp>
          <p:nvSpPr>
            <p:cNvPr id="6" name="Freeform 6"/>
            <p:cNvSpPr/>
            <p:nvPr/>
          </p:nvSpPr>
          <p:spPr>
            <a:xfrm>
              <a:off x="0" y="25400"/>
              <a:ext cx="76200" cy="14341475"/>
            </a:xfrm>
            <a:custGeom>
              <a:avLst/>
              <a:gdLst/>
              <a:ahLst/>
              <a:cxnLst/>
              <a:rect l="l" t="t" r="r" b="b"/>
              <a:pathLst>
                <a:path w="76200" h="14341475">
                  <a:moveTo>
                    <a:pt x="50800" y="0"/>
                  </a:moveTo>
                  <a:lnTo>
                    <a:pt x="76200" y="14341348"/>
                  </a:lnTo>
                  <a:lnTo>
                    <a:pt x="25400" y="14341475"/>
                  </a:lnTo>
                  <a:lnTo>
                    <a:pt x="0" y="0"/>
                  </a:lnTo>
                  <a:close/>
                </a:path>
              </a:pathLst>
            </a:custGeom>
            <a:solidFill>
              <a:srgbClr val="FDF8F9"/>
            </a:solidFill>
          </p:spPr>
        </p:sp>
      </p:grpSp>
      <p:grpSp>
        <p:nvGrpSpPr>
          <p:cNvPr id="7" name="Group 7"/>
          <p:cNvGrpSpPr/>
          <p:nvPr/>
        </p:nvGrpSpPr>
        <p:grpSpPr>
          <a:xfrm>
            <a:off x="935146" y="-28575"/>
            <a:ext cx="69019" cy="10344150"/>
            <a:chOff x="0" y="0"/>
            <a:chExt cx="92025" cy="13792200"/>
          </a:xfrm>
        </p:grpSpPr>
        <p:sp>
          <p:nvSpPr>
            <p:cNvPr id="8" name="Freeform 8"/>
            <p:cNvSpPr/>
            <p:nvPr/>
          </p:nvSpPr>
          <p:spPr>
            <a:xfrm>
              <a:off x="0" y="38100"/>
              <a:ext cx="92075" cy="13716000"/>
            </a:xfrm>
            <a:custGeom>
              <a:avLst/>
              <a:gdLst/>
              <a:ahLst/>
              <a:cxnLst/>
              <a:rect l="l" t="t" r="r" b="b"/>
              <a:pathLst>
                <a:path w="92075" h="13716000">
                  <a:moveTo>
                    <a:pt x="15875" y="13716000"/>
                  </a:moveTo>
                  <a:lnTo>
                    <a:pt x="0" y="0"/>
                  </a:lnTo>
                  <a:lnTo>
                    <a:pt x="76200" y="0"/>
                  </a:lnTo>
                  <a:lnTo>
                    <a:pt x="92075" y="13716000"/>
                  </a:lnTo>
                  <a:close/>
                </a:path>
              </a:pathLst>
            </a:custGeom>
            <a:solidFill>
              <a:srgbClr val="CF0A2D"/>
            </a:solidFill>
          </p:spPr>
        </p:sp>
      </p:grpSp>
      <p:sp>
        <p:nvSpPr>
          <p:cNvPr id="9" name="Freeform 9"/>
          <p:cNvSpPr/>
          <p:nvPr/>
        </p:nvSpPr>
        <p:spPr>
          <a:xfrm>
            <a:off x="353090" y="4595547"/>
            <a:ext cx="1095905" cy="1095905"/>
          </a:xfrm>
          <a:custGeom>
            <a:avLst/>
            <a:gdLst/>
            <a:ahLst/>
            <a:cxnLst/>
            <a:rect l="l" t="t" r="r" b="b"/>
            <a:pathLst>
              <a:path w="1095905" h="1095905">
                <a:moveTo>
                  <a:pt x="0" y="0"/>
                </a:moveTo>
                <a:lnTo>
                  <a:pt x="1095905" y="0"/>
                </a:lnTo>
                <a:lnTo>
                  <a:pt x="1095905" y="1095905"/>
                </a:lnTo>
                <a:lnTo>
                  <a:pt x="0" y="10959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295940" y="4585520"/>
            <a:ext cx="2697890" cy="1154061"/>
            <a:chOff x="0" y="0"/>
            <a:chExt cx="3597187" cy="1538748"/>
          </a:xfrm>
        </p:grpSpPr>
        <p:sp>
          <p:nvSpPr>
            <p:cNvPr id="11" name="Freeform 11"/>
            <p:cNvSpPr/>
            <p:nvPr/>
          </p:nvSpPr>
          <p:spPr>
            <a:xfrm>
              <a:off x="0" y="0"/>
              <a:ext cx="3597148" cy="1538732"/>
            </a:xfrm>
            <a:custGeom>
              <a:avLst/>
              <a:gdLst/>
              <a:ahLst/>
              <a:cxnLst/>
              <a:rect l="l" t="t" r="r" b="b"/>
              <a:pathLst>
                <a:path w="3597148" h="1538732">
                  <a:moveTo>
                    <a:pt x="0" y="0"/>
                  </a:moveTo>
                  <a:lnTo>
                    <a:pt x="3597148" y="0"/>
                  </a:lnTo>
                  <a:lnTo>
                    <a:pt x="3597148" y="1538732"/>
                  </a:lnTo>
                  <a:lnTo>
                    <a:pt x="0" y="1538732"/>
                  </a:lnTo>
                  <a:lnTo>
                    <a:pt x="0" y="0"/>
                  </a:lnTo>
                  <a:close/>
                </a:path>
              </a:pathLst>
            </a:custGeom>
            <a:blipFill>
              <a:blip r:embed="rId4"/>
              <a:stretch>
                <a:fillRect t="-66887" r="-1" b="-66888"/>
              </a:stretch>
            </a:blipFill>
          </p:spPr>
        </p:sp>
      </p:grpSp>
      <p:sp>
        <p:nvSpPr>
          <p:cNvPr id="12" name="TextBox 12"/>
          <p:cNvSpPr txBox="1"/>
          <p:nvPr/>
        </p:nvSpPr>
        <p:spPr>
          <a:xfrm>
            <a:off x="17659350" y="9730397"/>
            <a:ext cx="420982" cy="415315"/>
          </a:xfrm>
          <a:prstGeom prst="rect">
            <a:avLst/>
          </a:prstGeom>
        </p:spPr>
        <p:txBody>
          <a:bodyPr lIns="0" tIns="0" rIns="0" bIns="0" rtlCol="0" anchor="t">
            <a:spAutoFit/>
          </a:bodyPr>
          <a:lstStyle/>
          <a:p>
            <a:pPr algn="ctr">
              <a:lnSpc>
                <a:spcPts val="3361"/>
              </a:lnSpc>
            </a:pPr>
            <a:r>
              <a:rPr lang="en-US" sz="2401" b="1">
                <a:solidFill>
                  <a:srgbClr val="CF0A2D"/>
                </a:solidFill>
                <a:latin typeface="Times New Roman Bold"/>
                <a:ea typeface="Times New Roman Bold"/>
                <a:cs typeface="Times New Roman Bold"/>
                <a:sym typeface="Times New Roman Bold"/>
              </a:rPr>
              <a:t>2</a:t>
            </a:r>
          </a:p>
        </p:txBody>
      </p:sp>
      <p:sp>
        <p:nvSpPr>
          <p:cNvPr id="13" name="TextBox 13"/>
          <p:cNvSpPr txBox="1"/>
          <p:nvPr/>
        </p:nvSpPr>
        <p:spPr>
          <a:xfrm rot="-5400000">
            <a:off x="-1025645" y="8533172"/>
            <a:ext cx="2718073" cy="415417"/>
          </a:xfrm>
          <a:prstGeom prst="rect">
            <a:avLst/>
          </a:prstGeom>
        </p:spPr>
        <p:txBody>
          <a:bodyPr lIns="0" tIns="0" rIns="0" bIns="0" rtlCol="0" anchor="t">
            <a:spAutoFit/>
          </a:bodyPr>
          <a:lstStyle/>
          <a:p>
            <a:pPr algn="l">
              <a:lnSpc>
                <a:spcPts val="3358"/>
              </a:lnSpc>
            </a:pPr>
            <a:r>
              <a:rPr lang="en-US" sz="2400" b="1">
                <a:solidFill>
                  <a:srgbClr val="FDF8F9"/>
                </a:solidFill>
                <a:latin typeface="Times New Roman Bold"/>
                <a:ea typeface="Times New Roman Bold"/>
                <a:cs typeface="Times New Roman Bold"/>
                <a:sym typeface="Times New Roman Bold"/>
              </a:rPr>
              <a:t>SUNUM ŞABLONU</a:t>
            </a:r>
          </a:p>
        </p:txBody>
      </p:sp>
      <p:sp>
        <p:nvSpPr>
          <p:cNvPr id="14" name="TextBox 14"/>
          <p:cNvSpPr txBox="1"/>
          <p:nvPr/>
        </p:nvSpPr>
        <p:spPr>
          <a:xfrm rot="-5400000">
            <a:off x="-2289137" y="1940443"/>
            <a:ext cx="5322813" cy="399148"/>
          </a:xfrm>
          <a:prstGeom prst="rect">
            <a:avLst/>
          </a:prstGeom>
        </p:spPr>
        <p:txBody>
          <a:bodyPr lIns="0" tIns="0" rIns="0" bIns="0" rtlCol="0" anchor="t">
            <a:spAutoFit/>
          </a:bodyPr>
          <a:lstStyle/>
          <a:p>
            <a:pPr marL="259080" lvl="1" algn="l">
              <a:lnSpc>
                <a:spcPts val="3358"/>
              </a:lnSpc>
            </a:pPr>
            <a:r>
              <a:rPr lang="tr-TR" sz="2400" b="1" dirty="0">
                <a:solidFill>
                  <a:srgbClr val="FDF8F9"/>
                </a:solidFill>
                <a:latin typeface="Times New Roman Bold"/>
                <a:ea typeface="Times New Roman Bold"/>
                <a:cs typeface="Times New Roman Bold"/>
                <a:sym typeface="Times New Roman Bold"/>
              </a:rPr>
              <a:t>2.</a:t>
            </a:r>
            <a:r>
              <a:rPr lang="en-US" sz="2400" b="1" dirty="0">
                <a:solidFill>
                  <a:srgbClr val="FDF8F9"/>
                </a:solidFill>
                <a:latin typeface="Times New Roman Bold"/>
                <a:ea typeface="Times New Roman Bold"/>
                <a:cs typeface="Times New Roman Bold"/>
                <a:sym typeface="Times New Roman Bold"/>
              </a:rPr>
              <a:t>PROJE VADİ PROJE PAZARI</a:t>
            </a:r>
          </a:p>
        </p:txBody>
      </p:sp>
      <p:sp>
        <p:nvSpPr>
          <p:cNvPr id="15" name="Freeform 15"/>
          <p:cNvSpPr/>
          <p:nvPr/>
        </p:nvSpPr>
        <p:spPr>
          <a:xfrm>
            <a:off x="3079555" y="-19050"/>
            <a:ext cx="14972202" cy="9152433"/>
          </a:xfrm>
          <a:custGeom>
            <a:avLst/>
            <a:gdLst/>
            <a:ahLst/>
            <a:cxnLst/>
            <a:rect l="l" t="t" r="r" b="b"/>
            <a:pathLst>
              <a:path w="14972202" h="9152433">
                <a:moveTo>
                  <a:pt x="0" y="0"/>
                </a:moveTo>
                <a:lnTo>
                  <a:pt x="14972202" y="0"/>
                </a:lnTo>
                <a:lnTo>
                  <a:pt x="14972202" y="9152433"/>
                </a:lnTo>
                <a:lnTo>
                  <a:pt x="0" y="9152433"/>
                </a:lnTo>
                <a:lnTo>
                  <a:pt x="0" y="0"/>
                </a:lnTo>
                <a:close/>
              </a:path>
            </a:pathLst>
          </a:custGeom>
          <a:blipFill>
            <a:blip r:embed="rId5"/>
            <a:stretch>
              <a:fillRect l="-4337" r="-4337"/>
            </a:stretch>
          </a:blipFill>
        </p:spPr>
      </p:sp>
      <p:sp>
        <p:nvSpPr>
          <p:cNvPr id="16" name="Freeform 16"/>
          <p:cNvSpPr/>
          <p:nvPr/>
        </p:nvSpPr>
        <p:spPr>
          <a:xfrm>
            <a:off x="16173256" y="475810"/>
            <a:ext cx="1799190" cy="1272927"/>
          </a:xfrm>
          <a:custGeom>
            <a:avLst/>
            <a:gdLst/>
            <a:ahLst/>
            <a:cxnLst/>
            <a:rect l="l" t="t" r="r" b="b"/>
            <a:pathLst>
              <a:path w="1799190" h="1272927">
                <a:moveTo>
                  <a:pt x="0" y="0"/>
                </a:moveTo>
                <a:lnTo>
                  <a:pt x="1799190" y="0"/>
                </a:lnTo>
                <a:lnTo>
                  <a:pt x="1799190" y="1272927"/>
                </a:lnTo>
                <a:lnTo>
                  <a:pt x="0" y="1272927"/>
                </a:lnTo>
                <a:lnTo>
                  <a:pt x="0" y="0"/>
                </a:lnTo>
                <a:close/>
              </a:path>
            </a:pathLst>
          </a:custGeom>
          <a:blipFill>
            <a:blip r:embed="rId6"/>
            <a:stretch>
              <a:fillRect/>
            </a:stretch>
          </a:blipFill>
        </p:spPr>
      </p:sp>
      <p:sp>
        <p:nvSpPr>
          <p:cNvPr id="17" name="TextBox 16"/>
          <p:cNvSpPr txBox="1"/>
          <p:nvPr/>
        </p:nvSpPr>
        <p:spPr>
          <a:xfrm>
            <a:off x="3816000" y="2304000"/>
            <a:ext cx="13427999" cy="5292000"/>
          </a:xfrm>
          <a:prstGeom prst="rect">
            <a:avLst/>
          </a:prstGeom>
          <a:noFill/>
        </p:spPr>
        <p:txBody>
          <a:bodyPr wrap="square" lIns="108000" rIns="108000" tIns="54000" bIns="54000" anchor="t">
            <a:noAutofit/>
          </a:bodyPr>
          <a:lstStyle/>
          <a:p>
            <a:pPr algn="just">
              <a:spcAft>
                <a:spcPts val="1000"/>
              </a:spcAft>
            </a:pPr>
            <a:r>
              <a:rPr sz="1600" b="0">
                <a:solidFill>
                  <a:srgbClr val="1A1A1A"/>
                </a:solidFill>
                <a:latin typeface="Calibri"/>
              </a:rPr>
              <a:t>HTC VIVE Ultimate Tracker ve OpenXR verisini kullanan Unity tabanlı bir XR hareket analizi sistemi geliştirildi. Sistem; alt ekstremite hareket açıklığını (ROM) gerçek zamanlı izler, tam vücut avatar görselleştirmesi sağlar ve oyunlaştırılmış görev akışı ile hareket paternlerini değerlendirir.</a:t>
            </a:r>
          </a:p>
          <a:p>
            <a:pPr algn="just">
              <a:spcAft>
                <a:spcPts val="1000"/>
              </a:spcAft>
            </a:pPr>
            <a:r>
              <a:rPr sz="1600" b="0">
                <a:solidFill>
                  <a:srgbClr val="1A1A1A"/>
                </a:solidFill>
                <a:latin typeface="Calibri"/>
              </a:rPr>
              <a:t>Kontrollü iniş, mini squat, tek ayak squat, modifiye anterior reach ve tek ayak denge görevlerinde valgus eğilimi, diz fleksiyonu, reach yüzdesi ve salınım (sway RMS) gibi metrikler hesaplanır. Sonuçlar kullanıcıya Türkçe yorum ve risk alanı bildirimi olarak sunulur.</a:t>
            </a:r>
          </a:p>
          <a:p>
            <a:pPr algn="just">
              <a:spcAft>
                <a:spcPts val="400"/>
              </a:spcAft>
            </a:pPr>
            <a:r>
              <a:rPr sz="1600" b="0">
                <a:solidFill>
                  <a:srgbClr val="1A1A1A"/>
                </a:solidFill>
                <a:latin typeface="Calibri"/>
              </a:rPr>
              <a:t>Mevcut yapı tanı koyan bir araç değil; klinik değerlendirmeyi destekleyici bir hareket tarama prototipi olarak konumlandırılmıştır.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87750" y="9776690"/>
            <a:ext cx="57150" cy="538885"/>
            <a:chOff x="0" y="0"/>
            <a:chExt cx="76200" cy="718513"/>
          </a:xfrm>
        </p:grpSpPr>
        <p:sp>
          <p:nvSpPr>
            <p:cNvPr id="3" name="Freeform 3"/>
            <p:cNvSpPr/>
            <p:nvPr/>
          </p:nvSpPr>
          <p:spPr>
            <a:xfrm>
              <a:off x="0" y="38100"/>
              <a:ext cx="76200" cy="642366"/>
            </a:xfrm>
            <a:custGeom>
              <a:avLst/>
              <a:gdLst/>
              <a:ahLst/>
              <a:cxnLst/>
              <a:rect l="l" t="t" r="r" b="b"/>
              <a:pathLst>
                <a:path w="76200" h="642366">
                  <a:moveTo>
                    <a:pt x="0" y="642366"/>
                  </a:moveTo>
                  <a:lnTo>
                    <a:pt x="0" y="0"/>
                  </a:lnTo>
                  <a:lnTo>
                    <a:pt x="76200" y="0"/>
                  </a:lnTo>
                  <a:lnTo>
                    <a:pt x="76200" y="642366"/>
                  </a:lnTo>
                  <a:close/>
                </a:path>
              </a:pathLst>
            </a:custGeom>
            <a:solidFill>
              <a:srgbClr val="CF0A2D"/>
            </a:solidFill>
          </p:spPr>
        </p:sp>
      </p:grpSp>
      <p:sp>
        <p:nvSpPr>
          <p:cNvPr id="4" name="Freeform 4"/>
          <p:cNvSpPr/>
          <p:nvPr/>
        </p:nvSpPr>
        <p:spPr>
          <a:xfrm>
            <a:off x="-23181" y="-397564"/>
            <a:ext cx="888647" cy="10889239"/>
          </a:xfrm>
          <a:custGeom>
            <a:avLst/>
            <a:gdLst/>
            <a:ahLst/>
            <a:cxnLst/>
            <a:rect l="l" t="t" r="r" b="b"/>
            <a:pathLst>
              <a:path w="888647" h="10889239">
                <a:moveTo>
                  <a:pt x="0" y="0"/>
                </a:moveTo>
                <a:lnTo>
                  <a:pt x="888646" y="0"/>
                </a:lnTo>
                <a:lnTo>
                  <a:pt x="888646" y="10889239"/>
                </a:lnTo>
                <a:lnTo>
                  <a:pt x="0" y="10889239"/>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935146" y="-28575"/>
            <a:ext cx="69019" cy="10344150"/>
            <a:chOff x="0" y="0"/>
            <a:chExt cx="92025" cy="13792200"/>
          </a:xfrm>
        </p:grpSpPr>
        <p:sp>
          <p:nvSpPr>
            <p:cNvPr id="6" name="Freeform 6"/>
            <p:cNvSpPr/>
            <p:nvPr/>
          </p:nvSpPr>
          <p:spPr>
            <a:xfrm>
              <a:off x="0" y="38100"/>
              <a:ext cx="92075" cy="13716000"/>
            </a:xfrm>
            <a:custGeom>
              <a:avLst/>
              <a:gdLst/>
              <a:ahLst/>
              <a:cxnLst/>
              <a:rect l="l" t="t" r="r" b="b"/>
              <a:pathLst>
                <a:path w="92075" h="13716000">
                  <a:moveTo>
                    <a:pt x="15875" y="13716000"/>
                  </a:moveTo>
                  <a:lnTo>
                    <a:pt x="0" y="0"/>
                  </a:lnTo>
                  <a:lnTo>
                    <a:pt x="76200" y="0"/>
                  </a:lnTo>
                  <a:lnTo>
                    <a:pt x="92075" y="13716000"/>
                  </a:lnTo>
                  <a:close/>
                </a:path>
              </a:pathLst>
            </a:custGeom>
            <a:solidFill>
              <a:srgbClr val="CF0A2D"/>
            </a:solidFill>
          </p:spPr>
        </p:sp>
      </p:grpSp>
      <p:sp>
        <p:nvSpPr>
          <p:cNvPr id="7" name="Freeform 7"/>
          <p:cNvSpPr/>
          <p:nvPr/>
        </p:nvSpPr>
        <p:spPr>
          <a:xfrm>
            <a:off x="353090" y="4595547"/>
            <a:ext cx="1095905" cy="1095905"/>
          </a:xfrm>
          <a:custGeom>
            <a:avLst/>
            <a:gdLst/>
            <a:ahLst/>
            <a:cxnLst/>
            <a:rect l="l" t="t" r="r" b="b"/>
            <a:pathLst>
              <a:path w="1095905" h="1095905">
                <a:moveTo>
                  <a:pt x="0" y="0"/>
                </a:moveTo>
                <a:lnTo>
                  <a:pt x="1095905" y="0"/>
                </a:lnTo>
                <a:lnTo>
                  <a:pt x="1095905" y="1095905"/>
                </a:lnTo>
                <a:lnTo>
                  <a:pt x="0" y="10959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295940" y="4585520"/>
            <a:ext cx="2697890" cy="1154061"/>
            <a:chOff x="0" y="0"/>
            <a:chExt cx="3597187" cy="1538748"/>
          </a:xfrm>
        </p:grpSpPr>
        <p:sp>
          <p:nvSpPr>
            <p:cNvPr id="9" name="Freeform 9"/>
            <p:cNvSpPr/>
            <p:nvPr/>
          </p:nvSpPr>
          <p:spPr>
            <a:xfrm>
              <a:off x="0" y="0"/>
              <a:ext cx="3597148" cy="1538732"/>
            </a:xfrm>
            <a:custGeom>
              <a:avLst/>
              <a:gdLst/>
              <a:ahLst/>
              <a:cxnLst/>
              <a:rect l="l" t="t" r="r" b="b"/>
              <a:pathLst>
                <a:path w="3597148" h="1538732">
                  <a:moveTo>
                    <a:pt x="0" y="0"/>
                  </a:moveTo>
                  <a:lnTo>
                    <a:pt x="3597148" y="0"/>
                  </a:lnTo>
                  <a:lnTo>
                    <a:pt x="3597148" y="1538732"/>
                  </a:lnTo>
                  <a:lnTo>
                    <a:pt x="0" y="1538732"/>
                  </a:lnTo>
                  <a:lnTo>
                    <a:pt x="0" y="0"/>
                  </a:lnTo>
                  <a:close/>
                </a:path>
              </a:pathLst>
            </a:custGeom>
            <a:blipFill>
              <a:blip r:embed="rId4"/>
              <a:stretch>
                <a:fillRect t="-66887" r="-1" b="-66888"/>
              </a:stretch>
            </a:blipFill>
          </p:spPr>
        </p:sp>
      </p:grpSp>
      <p:sp>
        <p:nvSpPr>
          <p:cNvPr id="10" name="TextBox 10"/>
          <p:cNvSpPr txBox="1"/>
          <p:nvPr/>
        </p:nvSpPr>
        <p:spPr>
          <a:xfrm>
            <a:off x="17659350" y="9730397"/>
            <a:ext cx="420982" cy="415315"/>
          </a:xfrm>
          <a:prstGeom prst="rect">
            <a:avLst/>
          </a:prstGeom>
        </p:spPr>
        <p:txBody>
          <a:bodyPr lIns="0" tIns="0" rIns="0" bIns="0" rtlCol="0" anchor="t">
            <a:spAutoFit/>
          </a:bodyPr>
          <a:lstStyle/>
          <a:p>
            <a:pPr algn="ctr">
              <a:lnSpc>
                <a:spcPts val="3361"/>
              </a:lnSpc>
            </a:pPr>
            <a:r>
              <a:rPr lang="en-US" sz="2401" b="1">
                <a:solidFill>
                  <a:srgbClr val="CF0A2D"/>
                </a:solidFill>
                <a:latin typeface="Times New Roman Bold"/>
                <a:ea typeface="Times New Roman Bold"/>
                <a:cs typeface="Times New Roman Bold"/>
                <a:sym typeface="Times New Roman Bold"/>
              </a:rPr>
              <a:t>3</a:t>
            </a:r>
          </a:p>
        </p:txBody>
      </p:sp>
      <p:sp>
        <p:nvSpPr>
          <p:cNvPr id="11" name="TextBox 11"/>
          <p:cNvSpPr txBox="1"/>
          <p:nvPr/>
        </p:nvSpPr>
        <p:spPr>
          <a:xfrm rot="-5400000">
            <a:off x="-1025645" y="8533172"/>
            <a:ext cx="2718073" cy="415417"/>
          </a:xfrm>
          <a:prstGeom prst="rect">
            <a:avLst/>
          </a:prstGeom>
        </p:spPr>
        <p:txBody>
          <a:bodyPr lIns="0" tIns="0" rIns="0" bIns="0" rtlCol="0" anchor="t">
            <a:spAutoFit/>
          </a:bodyPr>
          <a:lstStyle/>
          <a:p>
            <a:pPr algn="l">
              <a:lnSpc>
                <a:spcPts val="3358"/>
              </a:lnSpc>
            </a:pPr>
            <a:r>
              <a:rPr lang="en-US" sz="2400" b="1">
                <a:solidFill>
                  <a:srgbClr val="FDF8F9"/>
                </a:solidFill>
                <a:latin typeface="Times New Roman Bold"/>
                <a:ea typeface="Times New Roman Bold"/>
                <a:cs typeface="Times New Roman Bold"/>
                <a:sym typeface="Times New Roman Bold"/>
              </a:rPr>
              <a:t>SUNUM ŞABLONU</a:t>
            </a:r>
          </a:p>
        </p:txBody>
      </p:sp>
      <p:sp>
        <p:nvSpPr>
          <p:cNvPr id="12" name="TextBox 12"/>
          <p:cNvSpPr txBox="1"/>
          <p:nvPr/>
        </p:nvSpPr>
        <p:spPr>
          <a:xfrm rot="-5400000">
            <a:off x="-2289137" y="1940443"/>
            <a:ext cx="5322813" cy="399148"/>
          </a:xfrm>
          <a:prstGeom prst="rect">
            <a:avLst/>
          </a:prstGeom>
        </p:spPr>
        <p:txBody>
          <a:bodyPr lIns="0" tIns="0" rIns="0" bIns="0" rtlCol="0" anchor="t">
            <a:spAutoFit/>
          </a:bodyPr>
          <a:lstStyle/>
          <a:p>
            <a:pPr marL="259080" lvl="1" algn="l">
              <a:lnSpc>
                <a:spcPts val="3358"/>
              </a:lnSpc>
            </a:pPr>
            <a:r>
              <a:rPr lang="tr-TR" sz="2400" b="1" dirty="0">
                <a:solidFill>
                  <a:srgbClr val="FDF8F9"/>
                </a:solidFill>
                <a:latin typeface="Times New Roman Bold"/>
                <a:ea typeface="Times New Roman Bold"/>
                <a:cs typeface="Times New Roman Bold"/>
                <a:sym typeface="Times New Roman Bold"/>
              </a:rPr>
              <a:t>2.</a:t>
            </a:r>
            <a:r>
              <a:rPr lang="en-US" sz="2400" b="1" dirty="0">
                <a:solidFill>
                  <a:srgbClr val="FDF8F9"/>
                </a:solidFill>
                <a:latin typeface="Times New Roman Bold"/>
                <a:ea typeface="Times New Roman Bold"/>
                <a:cs typeface="Times New Roman Bold"/>
                <a:sym typeface="Times New Roman Bold"/>
              </a:rPr>
              <a:t>PROJE VADİ PROJE PAZARI</a:t>
            </a:r>
          </a:p>
        </p:txBody>
      </p:sp>
      <p:sp>
        <p:nvSpPr>
          <p:cNvPr id="13" name="Freeform 13"/>
          <p:cNvSpPr/>
          <p:nvPr/>
        </p:nvSpPr>
        <p:spPr>
          <a:xfrm>
            <a:off x="2984305" y="125182"/>
            <a:ext cx="15048587" cy="9035980"/>
          </a:xfrm>
          <a:custGeom>
            <a:avLst/>
            <a:gdLst/>
            <a:ahLst/>
            <a:cxnLst/>
            <a:rect l="l" t="t" r="r" b="b"/>
            <a:pathLst>
              <a:path w="15048587" h="9035980">
                <a:moveTo>
                  <a:pt x="0" y="0"/>
                </a:moveTo>
                <a:lnTo>
                  <a:pt x="15048587" y="0"/>
                </a:lnTo>
                <a:lnTo>
                  <a:pt x="15048587" y="9035980"/>
                </a:lnTo>
                <a:lnTo>
                  <a:pt x="0" y="9035980"/>
                </a:lnTo>
                <a:lnTo>
                  <a:pt x="0" y="0"/>
                </a:lnTo>
                <a:close/>
              </a:path>
            </a:pathLst>
          </a:custGeom>
          <a:blipFill>
            <a:blip r:embed="rId5"/>
            <a:stretch>
              <a:fillRect l="-4412" t="-1946" r="-4412"/>
            </a:stretch>
          </a:blipFill>
        </p:spPr>
      </p:sp>
      <p:sp>
        <p:nvSpPr>
          <p:cNvPr id="14" name="Freeform 14"/>
          <p:cNvSpPr/>
          <p:nvPr/>
        </p:nvSpPr>
        <p:spPr>
          <a:xfrm>
            <a:off x="16173256" y="475810"/>
            <a:ext cx="1799190" cy="1272927"/>
          </a:xfrm>
          <a:custGeom>
            <a:avLst/>
            <a:gdLst/>
            <a:ahLst/>
            <a:cxnLst/>
            <a:rect l="l" t="t" r="r" b="b"/>
            <a:pathLst>
              <a:path w="1799190" h="1272927">
                <a:moveTo>
                  <a:pt x="0" y="0"/>
                </a:moveTo>
                <a:lnTo>
                  <a:pt x="1799190" y="0"/>
                </a:lnTo>
                <a:lnTo>
                  <a:pt x="1799190" y="1272927"/>
                </a:lnTo>
                <a:lnTo>
                  <a:pt x="0" y="1272927"/>
                </a:lnTo>
                <a:lnTo>
                  <a:pt x="0" y="0"/>
                </a:lnTo>
                <a:close/>
              </a:path>
            </a:pathLst>
          </a:custGeom>
          <a:blipFill>
            <a:blip r:embed="rId6"/>
            <a:stretch>
              <a:fillRect/>
            </a:stretch>
          </a:blipFill>
        </p:spPr>
      </p:sp>
      <p:sp>
        <p:nvSpPr>
          <p:cNvPr id="15" name="TextBox 14"/>
          <p:cNvSpPr txBox="1"/>
          <p:nvPr/>
        </p:nvSpPr>
        <p:spPr>
          <a:xfrm>
            <a:off x="3744000" y="2304000"/>
            <a:ext cx="4464000" cy="5256000"/>
          </a:xfrm>
          <a:prstGeom prst="rect">
            <a:avLst/>
          </a:prstGeom>
          <a:noFill/>
        </p:spPr>
        <p:txBody>
          <a:bodyPr wrap="square" lIns="108000" rIns="108000" tIns="54000" bIns="54000" anchor="t">
            <a:noAutofit/>
          </a:bodyPr>
          <a:lstStyle/>
          <a:p>
            <a:pPr algn="l">
              <a:spcAft>
                <a:spcPts val="400"/>
              </a:spcAft>
            </a:pPr>
            <a:r>
              <a:rPr sz="1400" b="1">
                <a:solidFill>
                  <a:srgbClr val="8B0000"/>
                </a:solidFill>
                <a:latin typeface="Calibri"/>
              </a:rPr>
              <a:t>Proje Başlığı</a:t>
            </a:r>
          </a:p>
          <a:p>
            <a:pPr algn="l">
              <a:spcAft>
                <a:spcPts val="1000"/>
              </a:spcAft>
            </a:pPr>
            <a:r>
              <a:rPr sz="1300" b="1">
                <a:solidFill>
                  <a:srgbClr val="1A1A1A"/>
                </a:solidFill>
                <a:latin typeface="Calibri"/>
              </a:rPr>
              <a:t>HTC VIVE Ultimate Tracker ve XR Tabanlı Oyunlaştırılmış Alt Ekstremite Hareket Analizi Sistemi</a:t>
            </a:r>
          </a:p>
          <a:p>
            <a:pPr algn="l">
              <a:spcAft>
                <a:spcPts val="400"/>
              </a:spcAft>
            </a:pPr>
            <a:r>
              <a:rPr sz="1400" b="1">
                <a:solidFill>
                  <a:srgbClr val="8B0000"/>
                </a:solidFill>
                <a:latin typeface="Calibri"/>
              </a:rPr>
              <a:t>Tür</a:t>
            </a:r>
          </a:p>
          <a:p>
            <a:pPr algn="l">
              <a:spcAft>
                <a:spcPts val="1000"/>
              </a:spcAft>
            </a:pPr>
            <a:r>
              <a:rPr sz="1300" b="0">
                <a:solidFill>
                  <a:srgbClr val="1A1A1A"/>
                </a:solidFill>
                <a:latin typeface="Calibri"/>
              </a:rPr>
              <a:t>Lisans Bitirme Projesi</a:t>
            </a:r>
          </a:p>
          <a:p>
            <a:pPr algn="l">
              <a:spcAft>
                <a:spcPts val="400"/>
              </a:spcAft>
            </a:pPr>
            <a:r>
              <a:rPr sz="1400" b="1">
                <a:solidFill>
                  <a:srgbClr val="8B0000"/>
                </a:solidFill>
                <a:latin typeface="Calibri"/>
              </a:rPr>
              <a:t>Konu</a:t>
            </a:r>
          </a:p>
          <a:p>
            <a:pPr algn="l">
              <a:spcAft>
                <a:spcPts val="400"/>
              </a:spcAft>
            </a:pPr>
            <a:r>
              <a:rPr sz="1200" b="0">
                <a:solidFill>
                  <a:srgbClr val="1A1A1A"/>
                </a:solidFill>
                <a:latin typeface="Calibri"/>
              </a:rPr>
              <a:t>Sanal gerçeklik destekli alt ekstremite hareket açıklığı (ROM) ölçümü ve oyunlaştırılmış değerlendirme.</a:t>
            </a:r>
          </a:p>
        </p:txBody>
      </p:sp>
      <p:sp>
        <p:nvSpPr>
          <p:cNvPr id="16" name="TextBox 15"/>
          <p:cNvSpPr txBox="1"/>
          <p:nvPr/>
        </p:nvSpPr>
        <p:spPr>
          <a:xfrm>
            <a:off x="8424000" y="2304000"/>
            <a:ext cx="4464000" cy="5256000"/>
          </a:xfrm>
          <a:prstGeom prst="rect">
            <a:avLst/>
          </a:prstGeom>
          <a:noFill/>
        </p:spPr>
        <p:txBody>
          <a:bodyPr wrap="square" lIns="108000" rIns="108000" tIns="54000" bIns="54000" anchor="t">
            <a:noAutofit/>
          </a:bodyPr>
          <a:lstStyle/>
          <a:p>
            <a:pPr algn="l">
              <a:spcAft>
                <a:spcPts val="400"/>
              </a:spcAft>
            </a:pPr>
            <a:r>
              <a:rPr sz="1400" b="1">
                <a:solidFill>
                  <a:srgbClr val="8B0000"/>
                </a:solidFill>
                <a:latin typeface="Calibri"/>
              </a:rPr>
              <a:t>Disiplinler</a:t>
            </a:r>
          </a:p>
          <a:p>
            <a:pPr algn="l">
              <a:spcAft>
                <a:spcPts val="300"/>
              </a:spcAft>
            </a:pPr>
            <a:r>
              <a:rPr sz="1300" b="0">
                <a:solidFill>
                  <a:srgbClr val="1A1A1A"/>
                </a:solidFill>
                <a:latin typeface="Calibri"/>
              </a:rPr>
              <a:t>•  Sağlık Teknolojileri</a:t>
            </a:r>
          </a:p>
          <a:p>
            <a:pPr algn="l">
              <a:spcAft>
                <a:spcPts val="300"/>
              </a:spcAft>
            </a:pPr>
            <a:r>
              <a:rPr sz="1300" b="0">
                <a:solidFill>
                  <a:srgbClr val="1A1A1A"/>
                </a:solidFill>
                <a:latin typeface="Calibri"/>
              </a:rPr>
              <a:t>•  Biyomekanik / Hareket Analizi</a:t>
            </a:r>
          </a:p>
          <a:p>
            <a:pPr algn="l">
              <a:spcAft>
                <a:spcPts val="300"/>
              </a:spcAft>
            </a:pPr>
            <a:r>
              <a:rPr sz="1300" b="0">
                <a:solidFill>
                  <a:srgbClr val="1A1A1A"/>
                </a:solidFill>
                <a:latin typeface="Calibri"/>
              </a:rPr>
              <a:t>•  Sanal Gerçeklik (XR)</a:t>
            </a:r>
          </a:p>
          <a:p>
            <a:pPr algn="l">
              <a:spcAft>
                <a:spcPts val="300"/>
              </a:spcAft>
            </a:pPr>
            <a:r>
              <a:rPr sz="1300" b="0">
                <a:solidFill>
                  <a:srgbClr val="1A1A1A"/>
                </a:solidFill>
                <a:latin typeface="Calibri"/>
              </a:rPr>
              <a:t>•  Oyunlaştırma</a:t>
            </a:r>
          </a:p>
          <a:p>
            <a:pPr algn="l">
              <a:spcAft>
                <a:spcPts val="300"/>
              </a:spcAft>
            </a:pPr>
            <a:r>
              <a:rPr sz="1300" b="0">
                <a:solidFill>
                  <a:srgbClr val="1A1A1A"/>
                </a:solidFill>
                <a:latin typeface="Calibri"/>
              </a:rPr>
              <a:t>•  Yazılım Mühendisliği</a:t>
            </a:r>
          </a:p>
          <a:p>
            <a:pPr algn="just">
              <a:spcAft>
                <a:spcPts val="400"/>
              </a:spcAft>
            </a:pPr>
            <a:r>
              <a:rPr sz="800" b="0">
                <a:solidFill>
                  <a:srgbClr val="1A1A1A"/>
                </a:solidFill>
                <a:latin typeface="Calibri"/>
              </a:rPr>
              <a:t> </a:t>
            </a:r>
          </a:p>
          <a:p>
            <a:pPr algn="l">
              <a:spcAft>
                <a:spcPts val="400"/>
              </a:spcAft>
            </a:pPr>
            <a:r>
              <a:rPr sz="1400" b="1">
                <a:solidFill>
                  <a:srgbClr val="8B0000"/>
                </a:solidFill>
                <a:latin typeface="Calibri"/>
              </a:rPr>
              <a:t>Anahtar Teknolojiler</a:t>
            </a:r>
          </a:p>
          <a:p>
            <a:pPr algn="l">
              <a:spcAft>
                <a:spcPts val="300"/>
              </a:spcAft>
            </a:pPr>
            <a:r>
              <a:rPr sz="1300" b="0">
                <a:solidFill>
                  <a:srgbClr val="1A1A1A"/>
                </a:solidFill>
                <a:latin typeface="Calibri"/>
              </a:rPr>
              <a:t>•  HTC VIVE Ultimate Tracker</a:t>
            </a:r>
          </a:p>
          <a:p>
            <a:pPr algn="l">
              <a:spcAft>
                <a:spcPts val="300"/>
              </a:spcAft>
            </a:pPr>
            <a:r>
              <a:rPr sz="1300" b="0">
                <a:solidFill>
                  <a:srgbClr val="1A1A1A"/>
                </a:solidFill>
                <a:latin typeface="Calibri"/>
              </a:rPr>
              <a:t>•  OpenXR  ·  Unity 6</a:t>
            </a:r>
          </a:p>
          <a:p>
            <a:pPr algn="l">
              <a:spcAft>
                <a:spcPts val="300"/>
              </a:spcAft>
            </a:pPr>
            <a:r>
              <a:rPr sz="1300" b="0">
                <a:solidFill>
                  <a:srgbClr val="1A1A1A"/>
                </a:solidFill>
                <a:latin typeface="Calibri"/>
              </a:rPr>
              <a:t>•  FK / IK çözücüler</a:t>
            </a:r>
          </a:p>
        </p:txBody>
      </p:sp>
      <p:sp>
        <p:nvSpPr>
          <p:cNvPr id="17" name="TextBox 16"/>
          <p:cNvSpPr txBox="1"/>
          <p:nvPr/>
        </p:nvSpPr>
        <p:spPr>
          <a:xfrm>
            <a:off x="13140000" y="2304000"/>
            <a:ext cx="4464000" cy="5256000"/>
          </a:xfrm>
          <a:prstGeom prst="rect">
            <a:avLst/>
          </a:prstGeom>
          <a:noFill/>
        </p:spPr>
        <p:txBody>
          <a:bodyPr wrap="square" lIns="108000" rIns="108000" tIns="54000" bIns="54000" anchor="t">
            <a:noAutofit/>
          </a:bodyPr>
          <a:lstStyle/>
          <a:p>
            <a:pPr algn="l">
              <a:spcAft>
                <a:spcPts val="400"/>
              </a:spcAft>
            </a:pPr>
            <a:r>
              <a:rPr sz="1400" b="1">
                <a:solidFill>
                  <a:srgbClr val="8B0000"/>
                </a:solidFill>
                <a:latin typeface="Calibri"/>
              </a:rPr>
              <a:t>Proje Yürütücüsü</a:t>
            </a:r>
          </a:p>
          <a:p>
            <a:pPr algn="l">
              <a:spcAft>
                <a:spcPts val="200"/>
              </a:spcAft>
            </a:pPr>
            <a:r>
              <a:rPr sz="1400" b="1">
                <a:solidFill>
                  <a:srgbClr val="1A1A1A"/>
                </a:solidFill>
                <a:latin typeface="Calibri"/>
              </a:rPr>
              <a:t>Muhammet Çiğdem</a:t>
            </a:r>
          </a:p>
          <a:p>
            <a:pPr algn="l">
              <a:spcAft>
                <a:spcPts val="1000"/>
              </a:spcAft>
            </a:pPr>
            <a:r>
              <a:rPr sz="1200" b="0">
                <a:solidFill>
                  <a:srgbClr val="4A4A4A"/>
                </a:solidFill>
                <a:latin typeface="Calibri"/>
              </a:rPr>
              <a:t>Öğrenci No: 227231041</a:t>
            </a:r>
          </a:p>
          <a:p>
            <a:pPr algn="l">
              <a:spcAft>
                <a:spcPts val="400"/>
              </a:spcAft>
            </a:pPr>
            <a:r>
              <a:rPr sz="1400" b="1">
                <a:solidFill>
                  <a:srgbClr val="8B0000"/>
                </a:solidFill>
                <a:latin typeface="Calibri"/>
              </a:rPr>
              <a:t>Danışman</a:t>
            </a:r>
          </a:p>
          <a:p>
            <a:pPr algn="l">
              <a:spcAft>
                <a:spcPts val="1000"/>
              </a:spcAft>
            </a:pPr>
            <a:r>
              <a:rPr sz="1400" b="1">
                <a:solidFill>
                  <a:srgbClr val="1A1A1A"/>
                </a:solidFill>
                <a:latin typeface="Calibri"/>
              </a:rPr>
              <a:t>Dr. Öğr. Üyesi Samet Tonyalı</a:t>
            </a:r>
          </a:p>
          <a:p>
            <a:pPr algn="l">
              <a:spcAft>
                <a:spcPts val="400"/>
              </a:spcAft>
            </a:pPr>
            <a:r>
              <a:rPr sz="1400" b="1">
                <a:solidFill>
                  <a:srgbClr val="8B0000"/>
                </a:solidFill>
                <a:latin typeface="Calibri"/>
              </a:rPr>
              <a:t>Kurum</a:t>
            </a:r>
          </a:p>
          <a:p>
            <a:pPr algn="l">
              <a:spcAft>
                <a:spcPts val="100"/>
              </a:spcAft>
            </a:pPr>
            <a:r>
              <a:rPr sz="1300" b="1">
                <a:solidFill>
                  <a:srgbClr val="1A1A1A"/>
                </a:solidFill>
                <a:latin typeface="Calibri"/>
              </a:rPr>
              <a:t>Gümüşhane Üniversitesi</a:t>
            </a:r>
          </a:p>
          <a:p>
            <a:pPr algn="l">
              <a:spcAft>
                <a:spcPts val="100"/>
              </a:spcAft>
            </a:pPr>
            <a:r>
              <a:rPr sz="1200" b="0">
                <a:solidFill>
                  <a:srgbClr val="4A4A4A"/>
                </a:solidFill>
                <a:latin typeface="Calibri"/>
              </a:rPr>
              <a:t>Mühendislik ve Doğa Bilimleri Fakültesi</a:t>
            </a:r>
          </a:p>
          <a:p>
            <a:pPr algn="l">
              <a:spcAft>
                <a:spcPts val="800"/>
              </a:spcAft>
            </a:pPr>
            <a:r>
              <a:rPr sz="1200" b="0">
                <a:solidFill>
                  <a:srgbClr val="4A4A4A"/>
                </a:solidFill>
                <a:latin typeface="Calibri"/>
              </a:rPr>
              <a:t>Yazılım Mühendisliği Bölümü</a:t>
            </a:r>
          </a:p>
          <a:p>
            <a:pPr algn="l">
              <a:spcAft>
                <a:spcPts val="400"/>
              </a:spcAft>
            </a:pPr>
            <a:r>
              <a:rPr sz="1200" b="0">
                <a:solidFill>
                  <a:srgbClr val="4A4A4A"/>
                </a:solidFill>
                <a:latin typeface="Calibri"/>
              </a:rPr>
              <a:t>Mayıs 2026  ·  Gümüşhane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87750" y="9776690"/>
            <a:ext cx="57150" cy="538885"/>
            <a:chOff x="0" y="0"/>
            <a:chExt cx="76200" cy="718513"/>
          </a:xfrm>
        </p:grpSpPr>
        <p:sp>
          <p:nvSpPr>
            <p:cNvPr id="3" name="Freeform 3"/>
            <p:cNvSpPr/>
            <p:nvPr/>
          </p:nvSpPr>
          <p:spPr>
            <a:xfrm>
              <a:off x="0" y="38100"/>
              <a:ext cx="76200" cy="642366"/>
            </a:xfrm>
            <a:custGeom>
              <a:avLst/>
              <a:gdLst/>
              <a:ahLst/>
              <a:cxnLst/>
              <a:rect l="l" t="t" r="r" b="b"/>
              <a:pathLst>
                <a:path w="76200" h="642366">
                  <a:moveTo>
                    <a:pt x="0" y="642366"/>
                  </a:moveTo>
                  <a:lnTo>
                    <a:pt x="0" y="0"/>
                  </a:lnTo>
                  <a:lnTo>
                    <a:pt x="76200" y="0"/>
                  </a:lnTo>
                  <a:lnTo>
                    <a:pt x="76200" y="642366"/>
                  </a:lnTo>
                  <a:close/>
                </a:path>
              </a:pathLst>
            </a:custGeom>
            <a:solidFill>
              <a:srgbClr val="CF0A2D"/>
            </a:solidFill>
          </p:spPr>
        </p:sp>
      </p:grpSp>
      <p:sp>
        <p:nvSpPr>
          <p:cNvPr id="4" name="TextBox 4"/>
          <p:cNvSpPr txBox="1"/>
          <p:nvPr/>
        </p:nvSpPr>
        <p:spPr>
          <a:xfrm>
            <a:off x="17659350" y="9730397"/>
            <a:ext cx="420982" cy="415315"/>
          </a:xfrm>
          <a:prstGeom prst="rect">
            <a:avLst/>
          </a:prstGeom>
        </p:spPr>
        <p:txBody>
          <a:bodyPr lIns="0" tIns="0" rIns="0" bIns="0" rtlCol="0" anchor="t">
            <a:spAutoFit/>
          </a:bodyPr>
          <a:lstStyle/>
          <a:p>
            <a:pPr algn="ctr">
              <a:lnSpc>
                <a:spcPts val="3361"/>
              </a:lnSpc>
            </a:pPr>
            <a:r>
              <a:rPr lang="en-US" sz="2401" b="1">
                <a:solidFill>
                  <a:srgbClr val="CF0A2D"/>
                </a:solidFill>
                <a:latin typeface="Times New Roman Bold"/>
                <a:ea typeface="Times New Roman Bold"/>
                <a:cs typeface="Times New Roman Bold"/>
                <a:sym typeface="Times New Roman Bold"/>
              </a:rPr>
              <a:t>4</a:t>
            </a:r>
          </a:p>
        </p:txBody>
      </p:sp>
      <p:sp>
        <p:nvSpPr>
          <p:cNvPr id="5" name="Freeform 5"/>
          <p:cNvSpPr/>
          <p:nvPr/>
        </p:nvSpPr>
        <p:spPr>
          <a:xfrm>
            <a:off x="-23181" y="-397564"/>
            <a:ext cx="888647" cy="10889239"/>
          </a:xfrm>
          <a:custGeom>
            <a:avLst/>
            <a:gdLst/>
            <a:ahLst/>
            <a:cxnLst/>
            <a:rect l="l" t="t" r="r" b="b"/>
            <a:pathLst>
              <a:path w="888647" h="10889239">
                <a:moveTo>
                  <a:pt x="0" y="0"/>
                </a:moveTo>
                <a:lnTo>
                  <a:pt x="888646" y="0"/>
                </a:lnTo>
                <a:lnTo>
                  <a:pt x="888646" y="10889239"/>
                </a:lnTo>
                <a:lnTo>
                  <a:pt x="0" y="10889239"/>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990600" y="-19050"/>
            <a:ext cx="57150" cy="10794124"/>
            <a:chOff x="0" y="0"/>
            <a:chExt cx="76200" cy="14392165"/>
          </a:xfrm>
        </p:grpSpPr>
        <p:sp>
          <p:nvSpPr>
            <p:cNvPr id="7" name="Freeform 7"/>
            <p:cNvSpPr/>
            <p:nvPr/>
          </p:nvSpPr>
          <p:spPr>
            <a:xfrm>
              <a:off x="0" y="25400"/>
              <a:ext cx="76200" cy="14341475"/>
            </a:xfrm>
            <a:custGeom>
              <a:avLst/>
              <a:gdLst/>
              <a:ahLst/>
              <a:cxnLst/>
              <a:rect l="l" t="t" r="r" b="b"/>
              <a:pathLst>
                <a:path w="76200" h="14341475">
                  <a:moveTo>
                    <a:pt x="50800" y="0"/>
                  </a:moveTo>
                  <a:lnTo>
                    <a:pt x="76200" y="14341348"/>
                  </a:lnTo>
                  <a:lnTo>
                    <a:pt x="25400" y="14341475"/>
                  </a:lnTo>
                  <a:lnTo>
                    <a:pt x="0" y="0"/>
                  </a:lnTo>
                  <a:close/>
                </a:path>
              </a:pathLst>
            </a:custGeom>
            <a:solidFill>
              <a:srgbClr val="FDF8F9"/>
            </a:solidFill>
          </p:spPr>
        </p:sp>
      </p:grpSp>
      <p:grpSp>
        <p:nvGrpSpPr>
          <p:cNvPr id="8" name="Group 8"/>
          <p:cNvGrpSpPr/>
          <p:nvPr/>
        </p:nvGrpSpPr>
        <p:grpSpPr>
          <a:xfrm>
            <a:off x="1156240" y="-144680"/>
            <a:ext cx="57150" cy="10794124"/>
            <a:chOff x="0" y="0"/>
            <a:chExt cx="76200" cy="14392165"/>
          </a:xfrm>
        </p:grpSpPr>
        <p:sp>
          <p:nvSpPr>
            <p:cNvPr id="9" name="Freeform 9"/>
            <p:cNvSpPr/>
            <p:nvPr/>
          </p:nvSpPr>
          <p:spPr>
            <a:xfrm>
              <a:off x="0" y="25400"/>
              <a:ext cx="76200" cy="14341475"/>
            </a:xfrm>
            <a:custGeom>
              <a:avLst/>
              <a:gdLst/>
              <a:ahLst/>
              <a:cxnLst/>
              <a:rect l="l" t="t" r="r" b="b"/>
              <a:pathLst>
                <a:path w="76200" h="14341475">
                  <a:moveTo>
                    <a:pt x="50800" y="0"/>
                  </a:moveTo>
                  <a:lnTo>
                    <a:pt x="76200" y="14341348"/>
                  </a:lnTo>
                  <a:lnTo>
                    <a:pt x="25400" y="14341475"/>
                  </a:lnTo>
                  <a:lnTo>
                    <a:pt x="0" y="0"/>
                  </a:lnTo>
                  <a:close/>
                </a:path>
              </a:pathLst>
            </a:custGeom>
            <a:solidFill>
              <a:srgbClr val="FDF8F9"/>
            </a:solidFill>
          </p:spPr>
        </p:sp>
      </p:grpSp>
      <p:grpSp>
        <p:nvGrpSpPr>
          <p:cNvPr id="10" name="Group 10"/>
          <p:cNvGrpSpPr/>
          <p:nvPr/>
        </p:nvGrpSpPr>
        <p:grpSpPr>
          <a:xfrm>
            <a:off x="935146" y="-28575"/>
            <a:ext cx="69019" cy="10344150"/>
            <a:chOff x="0" y="0"/>
            <a:chExt cx="92025" cy="13792200"/>
          </a:xfrm>
        </p:grpSpPr>
        <p:sp>
          <p:nvSpPr>
            <p:cNvPr id="11" name="Freeform 11"/>
            <p:cNvSpPr/>
            <p:nvPr/>
          </p:nvSpPr>
          <p:spPr>
            <a:xfrm>
              <a:off x="0" y="38100"/>
              <a:ext cx="92075" cy="13716000"/>
            </a:xfrm>
            <a:custGeom>
              <a:avLst/>
              <a:gdLst/>
              <a:ahLst/>
              <a:cxnLst/>
              <a:rect l="l" t="t" r="r" b="b"/>
              <a:pathLst>
                <a:path w="92075" h="13716000">
                  <a:moveTo>
                    <a:pt x="15875" y="13716000"/>
                  </a:moveTo>
                  <a:lnTo>
                    <a:pt x="0" y="0"/>
                  </a:lnTo>
                  <a:lnTo>
                    <a:pt x="76200" y="0"/>
                  </a:lnTo>
                  <a:lnTo>
                    <a:pt x="92075" y="13716000"/>
                  </a:lnTo>
                  <a:close/>
                </a:path>
              </a:pathLst>
            </a:custGeom>
            <a:solidFill>
              <a:srgbClr val="CF0A2D"/>
            </a:solidFill>
          </p:spPr>
        </p:sp>
      </p:grpSp>
      <p:sp>
        <p:nvSpPr>
          <p:cNvPr id="12" name="Freeform 12"/>
          <p:cNvSpPr/>
          <p:nvPr/>
        </p:nvSpPr>
        <p:spPr>
          <a:xfrm>
            <a:off x="353090" y="4595547"/>
            <a:ext cx="1095905" cy="1095905"/>
          </a:xfrm>
          <a:custGeom>
            <a:avLst/>
            <a:gdLst/>
            <a:ahLst/>
            <a:cxnLst/>
            <a:rect l="l" t="t" r="r" b="b"/>
            <a:pathLst>
              <a:path w="1095905" h="1095905">
                <a:moveTo>
                  <a:pt x="0" y="0"/>
                </a:moveTo>
                <a:lnTo>
                  <a:pt x="1095905" y="0"/>
                </a:lnTo>
                <a:lnTo>
                  <a:pt x="1095905" y="1095905"/>
                </a:lnTo>
                <a:lnTo>
                  <a:pt x="0" y="10959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95940" y="4585520"/>
            <a:ext cx="2697890" cy="1154061"/>
            <a:chOff x="0" y="0"/>
            <a:chExt cx="3597187" cy="1538748"/>
          </a:xfrm>
        </p:grpSpPr>
        <p:sp>
          <p:nvSpPr>
            <p:cNvPr id="14" name="Freeform 14"/>
            <p:cNvSpPr/>
            <p:nvPr/>
          </p:nvSpPr>
          <p:spPr>
            <a:xfrm>
              <a:off x="0" y="0"/>
              <a:ext cx="3597148" cy="1538732"/>
            </a:xfrm>
            <a:custGeom>
              <a:avLst/>
              <a:gdLst/>
              <a:ahLst/>
              <a:cxnLst/>
              <a:rect l="l" t="t" r="r" b="b"/>
              <a:pathLst>
                <a:path w="3597148" h="1538732">
                  <a:moveTo>
                    <a:pt x="0" y="0"/>
                  </a:moveTo>
                  <a:lnTo>
                    <a:pt x="3597148" y="0"/>
                  </a:lnTo>
                  <a:lnTo>
                    <a:pt x="3597148" y="1538732"/>
                  </a:lnTo>
                  <a:lnTo>
                    <a:pt x="0" y="1538732"/>
                  </a:lnTo>
                  <a:lnTo>
                    <a:pt x="0" y="0"/>
                  </a:lnTo>
                  <a:close/>
                </a:path>
              </a:pathLst>
            </a:custGeom>
            <a:blipFill>
              <a:blip r:embed="rId4"/>
              <a:stretch>
                <a:fillRect t="-66887" r="-1" b="-66888"/>
              </a:stretch>
            </a:blipFill>
          </p:spPr>
        </p:sp>
      </p:grpSp>
      <p:sp>
        <p:nvSpPr>
          <p:cNvPr id="15" name="TextBox 15"/>
          <p:cNvSpPr txBox="1"/>
          <p:nvPr/>
        </p:nvSpPr>
        <p:spPr>
          <a:xfrm rot="-5400000">
            <a:off x="-1025645" y="8533172"/>
            <a:ext cx="2718073" cy="415417"/>
          </a:xfrm>
          <a:prstGeom prst="rect">
            <a:avLst/>
          </a:prstGeom>
        </p:spPr>
        <p:txBody>
          <a:bodyPr lIns="0" tIns="0" rIns="0" bIns="0" rtlCol="0" anchor="t">
            <a:spAutoFit/>
          </a:bodyPr>
          <a:lstStyle/>
          <a:p>
            <a:pPr algn="l">
              <a:lnSpc>
                <a:spcPts val="3358"/>
              </a:lnSpc>
            </a:pPr>
            <a:r>
              <a:rPr lang="en-US" sz="2400" b="1">
                <a:solidFill>
                  <a:srgbClr val="FDF8F9"/>
                </a:solidFill>
                <a:latin typeface="Times New Roman Bold"/>
                <a:ea typeface="Times New Roman Bold"/>
                <a:cs typeface="Times New Roman Bold"/>
                <a:sym typeface="Times New Roman Bold"/>
              </a:rPr>
              <a:t>SUNUM ŞABLONU</a:t>
            </a:r>
          </a:p>
        </p:txBody>
      </p:sp>
      <p:sp>
        <p:nvSpPr>
          <p:cNvPr id="16" name="TextBox 16"/>
          <p:cNvSpPr txBox="1"/>
          <p:nvPr/>
        </p:nvSpPr>
        <p:spPr>
          <a:xfrm rot="-5400000">
            <a:off x="-2289137" y="1940443"/>
            <a:ext cx="5322813" cy="399148"/>
          </a:xfrm>
          <a:prstGeom prst="rect">
            <a:avLst/>
          </a:prstGeom>
        </p:spPr>
        <p:txBody>
          <a:bodyPr lIns="0" tIns="0" rIns="0" bIns="0" rtlCol="0" anchor="t">
            <a:spAutoFit/>
          </a:bodyPr>
          <a:lstStyle/>
          <a:p>
            <a:pPr marL="259080" lvl="1" algn="l">
              <a:lnSpc>
                <a:spcPts val="3358"/>
              </a:lnSpc>
            </a:pPr>
            <a:r>
              <a:rPr lang="tr-TR" sz="2400" b="1" dirty="0">
                <a:solidFill>
                  <a:srgbClr val="FDF8F9"/>
                </a:solidFill>
                <a:latin typeface="Times New Roman Bold"/>
                <a:ea typeface="Times New Roman Bold"/>
                <a:cs typeface="Times New Roman Bold"/>
                <a:sym typeface="Times New Roman Bold"/>
              </a:rPr>
              <a:t>2.</a:t>
            </a:r>
            <a:r>
              <a:rPr lang="en-US" sz="2400" b="1" dirty="0">
                <a:solidFill>
                  <a:srgbClr val="FDF8F9"/>
                </a:solidFill>
                <a:latin typeface="Times New Roman Bold"/>
                <a:ea typeface="Times New Roman Bold"/>
                <a:cs typeface="Times New Roman Bold"/>
                <a:sym typeface="Times New Roman Bold"/>
              </a:rPr>
              <a:t>PROJE VADİ PROJE PAZARI</a:t>
            </a:r>
          </a:p>
        </p:txBody>
      </p:sp>
      <p:sp>
        <p:nvSpPr>
          <p:cNvPr id="17" name="Freeform 17"/>
          <p:cNvSpPr/>
          <p:nvPr/>
        </p:nvSpPr>
        <p:spPr>
          <a:xfrm>
            <a:off x="2974780" y="-106580"/>
            <a:ext cx="15159744" cy="9238599"/>
          </a:xfrm>
          <a:custGeom>
            <a:avLst/>
            <a:gdLst/>
            <a:ahLst/>
            <a:cxnLst/>
            <a:rect l="l" t="t" r="r" b="b"/>
            <a:pathLst>
              <a:path w="15159744" h="9238599">
                <a:moveTo>
                  <a:pt x="0" y="0"/>
                </a:moveTo>
                <a:lnTo>
                  <a:pt x="15159744" y="0"/>
                </a:lnTo>
                <a:lnTo>
                  <a:pt x="15159744" y="9238599"/>
                </a:lnTo>
                <a:lnTo>
                  <a:pt x="0" y="9238599"/>
                </a:lnTo>
                <a:lnTo>
                  <a:pt x="0" y="0"/>
                </a:lnTo>
                <a:close/>
              </a:path>
            </a:pathLst>
          </a:custGeom>
          <a:blipFill>
            <a:blip r:embed="rId5"/>
            <a:stretch>
              <a:fillRect l="-4170" r="-4170"/>
            </a:stretch>
          </a:blipFill>
        </p:spPr>
      </p:sp>
      <p:sp>
        <p:nvSpPr>
          <p:cNvPr id="18" name="Freeform 18"/>
          <p:cNvSpPr/>
          <p:nvPr/>
        </p:nvSpPr>
        <p:spPr>
          <a:xfrm>
            <a:off x="16173256" y="475810"/>
            <a:ext cx="1799190" cy="1272927"/>
          </a:xfrm>
          <a:custGeom>
            <a:avLst/>
            <a:gdLst/>
            <a:ahLst/>
            <a:cxnLst/>
            <a:rect l="l" t="t" r="r" b="b"/>
            <a:pathLst>
              <a:path w="1799190" h="1272927">
                <a:moveTo>
                  <a:pt x="0" y="0"/>
                </a:moveTo>
                <a:lnTo>
                  <a:pt x="1799190" y="0"/>
                </a:lnTo>
                <a:lnTo>
                  <a:pt x="1799190" y="1272927"/>
                </a:lnTo>
                <a:lnTo>
                  <a:pt x="0" y="1272927"/>
                </a:lnTo>
                <a:lnTo>
                  <a:pt x="0" y="0"/>
                </a:lnTo>
                <a:close/>
              </a:path>
            </a:pathLst>
          </a:custGeom>
          <a:blipFill>
            <a:blip r:embed="rId6"/>
            <a:stretch>
              <a:fillRect/>
            </a:stretch>
          </a:blipFill>
        </p:spPr>
      </p:sp>
      <p:sp>
        <p:nvSpPr>
          <p:cNvPr id="19" name="TextBox 18"/>
          <p:cNvSpPr txBox="1"/>
          <p:nvPr/>
        </p:nvSpPr>
        <p:spPr>
          <a:xfrm>
            <a:off x="3816000" y="2304000"/>
            <a:ext cx="13427999" cy="5292000"/>
          </a:xfrm>
          <a:prstGeom prst="rect">
            <a:avLst/>
          </a:prstGeom>
          <a:noFill/>
        </p:spPr>
        <p:txBody>
          <a:bodyPr wrap="square" lIns="108000" rIns="108000" tIns="54000" bIns="54000" anchor="t">
            <a:noAutofit/>
          </a:bodyPr>
          <a:lstStyle/>
          <a:p>
            <a:pPr algn="l">
              <a:spcAft>
                <a:spcPts val="400"/>
              </a:spcAft>
            </a:pPr>
            <a:r>
              <a:rPr sz="1500" b="1">
                <a:solidFill>
                  <a:srgbClr val="8B0000"/>
                </a:solidFill>
                <a:latin typeface="Calibri"/>
              </a:rPr>
              <a:t>Sistem Mimarisi (4 Katman)</a:t>
            </a:r>
          </a:p>
          <a:p>
            <a:pPr algn="l">
              <a:spcAft>
                <a:spcPts val="200"/>
              </a:spcAft>
            </a:pPr>
            <a:r>
              <a:rPr sz="1300" b="0">
                <a:solidFill>
                  <a:srgbClr val="1A1A1A"/>
                </a:solidFill>
                <a:latin typeface="Calibri"/>
              </a:rPr>
              <a:t>•  OpenXR Cihaz Katmanı  →  başlık, tracker, kontrolcü, el izleme</a:t>
            </a:r>
          </a:p>
          <a:p>
            <a:pPr algn="l">
              <a:spcAft>
                <a:spcPts val="200"/>
              </a:spcAft>
            </a:pPr>
            <a:r>
              <a:rPr sz="1300" b="0">
                <a:solidFill>
                  <a:srgbClr val="1A1A1A"/>
                </a:solidFill>
                <a:latin typeface="Calibri"/>
              </a:rPr>
              <a:t>•  Toplama ve Eşleme  →  cihaz eşleme ve kalibrasyon</a:t>
            </a:r>
          </a:p>
          <a:p>
            <a:pPr algn="l">
              <a:spcAft>
                <a:spcPts val="200"/>
              </a:spcAft>
            </a:pPr>
            <a:r>
              <a:rPr sz="1300" b="0">
                <a:solidFill>
                  <a:srgbClr val="1A1A1A"/>
                </a:solidFill>
                <a:latin typeface="Calibri"/>
              </a:rPr>
              <a:t>•  Kinematik Çözüm  →  ROM hesabı + tam vücut IK + kemik sürüşü</a:t>
            </a:r>
          </a:p>
          <a:p>
            <a:pPr algn="l">
              <a:spcAft>
                <a:spcPts val="1000"/>
              </a:spcAft>
            </a:pPr>
            <a:r>
              <a:rPr sz="1300" b="0">
                <a:solidFill>
                  <a:srgbClr val="1A1A1A"/>
                </a:solidFill>
                <a:latin typeface="Calibri"/>
              </a:rPr>
              <a:t>•  Uygulama  →  klinik açı göstergeleri, avatar, görev motoru, rapor, UI</a:t>
            </a:r>
          </a:p>
          <a:p>
            <a:pPr algn="l">
              <a:spcAft>
                <a:spcPts val="400"/>
              </a:spcAft>
            </a:pPr>
            <a:r>
              <a:rPr sz="1500" b="1">
                <a:solidFill>
                  <a:srgbClr val="8B0000"/>
                </a:solidFill>
                <a:latin typeface="Calibri"/>
              </a:rPr>
              <a:t>Donanım &amp; Yazılım</a:t>
            </a:r>
          </a:p>
          <a:p>
            <a:pPr algn="l">
              <a:spcAft>
                <a:spcPts val="200"/>
              </a:spcAft>
            </a:pPr>
            <a:r>
              <a:rPr sz="1300" b="0">
                <a:solidFill>
                  <a:srgbClr val="1A1A1A"/>
                </a:solidFill>
                <a:latin typeface="Calibri"/>
              </a:rPr>
              <a:t>•  HTC VIVE Ultimate Tracker (pelvis, femur, tibia) + XR başlık/kontrolcü</a:t>
            </a:r>
          </a:p>
          <a:p>
            <a:pPr algn="l">
              <a:spcAft>
                <a:spcPts val="1000"/>
              </a:spcAft>
            </a:pPr>
            <a:r>
              <a:rPr sz="1300" b="0">
                <a:solidFill>
                  <a:srgbClr val="1A1A1A"/>
                </a:solidFill>
                <a:latin typeface="Calibri"/>
              </a:rPr>
              <a:t>•  Unity 6  ·  OpenXR ve VIVE eklentileri  ·  FK / IK çözücüler</a:t>
            </a:r>
          </a:p>
          <a:p>
            <a:pPr algn="l">
              <a:spcAft>
                <a:spcPts val="400"/>
              </a:spcAft>
            </a:pPr>
            <a:r>
              <a:rPr sz="1500" b="1">
                <a:solidFill>
                  <a:srgbClr val="8B0000"/>
                </a:solidFill>
                <a:latin typeface="Calibri"/>
              </a:rPr>
              <a:t>Temel Kinematik İlişki</a:t>
            </a:r>
          </a:p>
          <a:p>
            <a:pPr algn="l">
              <a:spcAft>
                <a:spcPts val="1000"/>
              </a:spcAft>
            </a:pPr>
            <a:r>
              <a:rPr sz="1300" b="0">
                <a:solidFill>
                  <a:srgbClr val="4A4A4A"/>
                </a:solidFill>
                <a:latin typeface="Calibri"/>
              </a:rPr>
              <a:t>Kalibrasyon:  Q_offset = Q_T⁻¹ · Q_B          Çalışma anı:  Q_B(t) = Q_T(t) · Q_offset</a:t>
            </a:r>
          </a:p>
          <a:p>
            <a:pPr algn="l">
              <a:spcAft>
                <a:spcPts val="400"/>
              </a:spcAft>
            </a:pPr>
            <a:r>
              <a:rPr sz="1500" b="1">
                <a:solidFill>
                  <a:srgbClr val="8B0000"/>
                </a:solidFill>
                <a:latin typeface="Calibri"/>
              </a:rPr>
              <a:t>Görev Seti ve Üretilen Metrikler</a:t>
            </a:r>
          </a:p>
          <a:p>
            <a:pPr algn="l">
              <a:spcAft>
                <a:spcPts val="100"/>
              </a:spcAft>
            </a:pPr>
            <a:r>
              <a:rPr sz="1200" b="0">
                <a:solidFill>
                  <a:srgbClr val="1A1A1A"/>
                </a:solidFill>
                <a:latin typeface="Calibri"/>
              </a:rPr>
              <a:t>•  Kontrollü iniş — pik diz valgusu, fleksiyon, sway</a:t>
            </a:r>
          </a:p>
          <a:p>
            <a:pPr algn="l">
              <a:spcAft>
                <a:spcPts val="100"/>
              </a:spcAft>
            </a:pPr>
            <a:r>
              <a:rPr sz="1200" b="0">
                <a:solidFill>
                  <a:srgbClr val="1A1A1A"/>
                </a:solidFill>
                <a:latin typeface="Calibri"/>
              </a:rPr>
              <a:t>•  Mini squat &amp; tek ayak squat — fleksiyon, valgus eğilimi</a:t>
            </a:r>
          </a:p>
          <a:p>
            <a:pPr algn="l">
              <a:spcAft>
                <a:spcPts val="100"/>
              </a:spcAft>
            </a:pPr>
            <a:r>
              <a:rPr sz="1200" b="0">
                <a:solidFill>
                  <a:srgbClr val="1A1A1A"/>
                </a:solidFill>
                <a:latin typeface="Calibri"/>
              </a:rPr>
              <a:t>•  Modifiye anterior reach — reach %, stance valgusu, sway</a:t>
            </a:r>
          </a:p>
          <a:p>
            <a:pPr algn="l">
              <a:spcAft>
                <a:spcPts val="100"/>
              </a:spcAft>
            </a:pPr>
            <a:r>
              <a:rPr sz="1200" b="0">
                <a:solidFill>
                  <a:srgbClr val="1A1A1A"/>
                </a:solidFill>
                <a:latin typeface="Calibri"/>
              </a:rPr>
              <a:t>•  Tek ayak denge — pelvis sway RMS, sway hızı</a:t>
            </a:r>
          </a:p>
          <a:p>
            <a:pPr algn="l">
              <a:spcAft>
                <a:spcPts val="1000"/>
              </a:spcAft>
            </a:pPr>
            <a:r>
              <a:rPr sz="1200" b="0">
                <a:solidFill>
                  <a:srgbClr val="1A1A1A"/>
                </a:solidFill>
                <a:latin typeface="Calibri"/>
              </a:rPr>
              <a:t>•  Gövde eğimi &amp; yerinde yürüme — proksimal kontrol, akış gözlemi</a:t>
            </a:r>
          </a:p>
          <a:p>
            <a:pPr algn="l">
              <a:spcAft>
                <a:spcPts val="400"/>
              </a:spcAft>
            </a:pPr>
            <a:r>
              <a:rPr sz="1500" b="1">
                <a:solidFill>
                  <a:srgbClr val="8B0000"/>
                </a:solidFill>
                <a:latin typeface="Calibri"/>
              </a:rPr>
              <a:t>Teknik Katkılar</a:t>
            </a:r>
          </a:p>
          <a:p>
            <a:pPr algn="l">
              <a:spcAft>
                <a:spcPts val="100"/>
              </a:spcAft>
            </a:pPr>
            <a:r>
              <a:rPr sz="1200" b="0">
                <a:solidFill>
                  <a:srgbClr val="1A1A1A"/>
                </a:solidFill>
                <a:latin typeface="Calibri"/>
              </a:rPr>
              <a:t>•  Hint yön düzeltmesi (anatomik bükülme düzlemi)</a:t>
            </a:r>
          </a:p>
          <a:p>
            <a:pPr algn="l">
              <a:spcAft>
                <a:spcPts val="100"/>
              </a:spcAft>
            </a:pPr>
            <a:r>
              <a:rPr sz="1200" b="0">
                <a:solidFill>
                  <a:srgbClr val="1A1A1A"/>
                </a:solidFill>
                <a:latin typeface="Calibri"/>
              </a:rPr>
              <a:t>•  Shin-tracker modu  ·  bind-pose sıfırlaması (drift azaltma)</a:t>
            </a:r>
          </a:p>
          <a:p>
            <a:pPr algn="l">
              <a:spcAft>
                <a:spcPts val="100"/>
              </a:spcAft>
            </a:pPr>
            <a:r>
              <a:rPr sz="1200" b="0">
                <a:solidFill>
                  <a:srgbClr val="1A1A1A"/>
                </a:solidFill>
                <a:latin typeface="Calibri"/>
              </a:rPr>
              <a:t>•  Çoklu tracker ile doğrudan FK + omurgada CCD tabanlı dağıtım</a:t>
            </a:r>
          </a:p>
          <a:p>
            <a:pPr algn="l">
              <a:spcAft>
                <a:spcPts val="300"/>
              </a:spcAft>
            </a:pPr>
            <a:r>
              <a:rPr sz="1200" b="0">
                <a:solidFill>
                  <a:srgbClr val="1A1A1A"/>
                </a:solidFill>
                <a:latin typeface="Calibri"/>
              </a:rPr>
              <a:t>•  Otomatik kemik bulma ve editör test sürücüleri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87750" y="9776690"/>
            <a:ext cx="57150" cy="538885"/>
            <a:chOff x="0" y="0"/>
            <a:chExt cx="76200" cy="718513"/>
          </a:xfrm>
        </p:grpSpPr>
        <p:sp>
          <p:nvSpPr>
            <p:cNvPr id="3" name="Freeform 3"/>
            <p:cNvSpPr/>
            <p:nvPr/>
          </p:nvSpPr>
          <p:spPr>
            <a:xfrm>
              <a:off x="0" y="38100"/>
              <a:ext cx="76200" cy="642366"/>
            </a:xfrm>
            <a:custGeom>
              <a:avLst/>
              <a:gdLst/>
              <a:ahLst/>
              <a:cxnLst/>
              <a:rect l="l" t="t" r="r" b="b"/>
              <a:pathLst>
                <a:path w="76200" h="642366">
                  <a:moveTo>
                    <a:pt x="0" y="642366"/>
                  </a:moveTo>
                  <a:lnTo>
                    <a:pt x="0" y="0"/>
                  </a:lnTo>
                  <a:lnTo>
                    <a:pt x="76200" y="0"/>
                  </a:lnTo>
                  <a:lnTo>
                    <a:pt x="76200" y="642366"/>
                  </a:lnTo>
                  <a:close/>
                </a:path>
              </a:pathLst>
            </a:custGeom>
            <a:solidFill>
              <a:srgbClr val="CF0A2D"/>
            </a:solidFill>
          </p:spPr>
        </p:sp>
      </p:grpSp>
      <p:sp>
        <p:nvSpPr>
          <p:cNvPr id="4" name="TextBox 4"/>
          <p:cNvSpPr txBox="1"/>
          <p:nvPr/>
        </p:nvSpPr>
        <p:spPr>
          <a:xfrm>
            <a:off x="17659350" y="9730397"/>
            <a:ext cx="420982" cy="415315"/>
          </a:xfrm>
          <a:prstGeom prst="rect">
            <a:avLst/>
          </a:prstGeom>
        </p:spPr>
        <p:txBody>
          <a:bodyPr lIns="0" tIns="0" rIns="0" bIns="0" rtlCol="0" anchor="t">
            <a:spAutoFit/>
          </a:bodyPr>
          <a:lstStyle/>
          <a:p>
            <a:pPr algn="ctr">
              <a:lnSpc>
                <a:spcPts val="3361"/>
              </a:lnSpc>
            </a:pPr>
            <a:r>
              <a:rPr lang="en-US" sz="2401" b="1">
                <a:solidFill>
                  <a:srgbClr val="CF0A2D"/>
                </a:solidFill>
                <a:latin typeface="Times New Roman Bold"/>
                <a:ea typeface="Times New Roman Bold"/>
                <a:cs typeface="Times New Roman Bold"/>
                <a:sym typeface="Times New Roman Bold"/>
              </a:rPr>
              <a:t>5</a:t>
            </a:r>
          </a:p>
        </p:txBody>
      </p:sp>
      <p:sp>
        <p:nvSpPr>
          <p:cNvPr id="5" name="Freeform 5"/>
          <p:cNvSpPr/>
          <p:nvPr/>
        </p:nvSpPr>
        <p:spPr>
          <a:xfrm>
            <a:off x="-23181" y="-397564"/>
            <a:ext cx="888647" cy="10889239"/>
          </a:xfrm>
          <a:custGeom>
            <a:avLst/>
            <a:gdLst/>
            <a:ahLst/>
            <a:cxnLst/>
            <a:rect l="l" t="t" r="r" b="b"/>
            <a:pathLst>
              <a:path w="888647" h="10889239">
                <a:moveTo>
                  <a:pt x="0" y="0"/>
                </a:moveTo>
                <a:lnTo>
                  <a:pt x="888646" y="0"/>
                </a:lnTo>
                <a:lnTo>
                  <a:pt x="888646" y="10889239"/>
                </a:lnTo>
                <a:lnTo>
                  <a:pt x="0" y="10889239"/>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990600" y="-19050"/>
            <a:ext cx="57150" cy="10794124"/>
            <a:chOff x="0" y="0"/>
            <a:chExt cx="76200" cy="14392165"/>
          </a:xfrm>
        </p:grpSpPr>
        <p:sp>
          <p:nvSpPr>
            <p:cNvPr id="7" name="Freeform 7"/>
            <p:cNvSpPr/>
            <p:nvPr/>
          </p:nvSpPr>
          <p:spPr>
            <a:xfrm>
              <a:off x="0" y="25400"/>
              <a:ext cx="76200" cy="14341475"/>
            </a:xfrm>
            <a:custGeom>
              <a:avLst/>
              <a:gdLst/>
              <a:ahLst/>
              <a:cxnLst/>
              <a:rect l="l" t="t" r="r" b="b"/>
              <a:pathLst>
                <a:path w="76200" h="14341475">
                  <a:moveTo>
                    <a:pt x="50800" y="0"/>
                  </a:moveTo>
                  <a:lnTo>
                    <a:pt x="76200" y="14341348"/>
                  </a:lnTo>
                  <a:lnTo>
                    <a:pt x="25400" y="14341475"/>
                  </a:lnTo>
                  <a:lnTo>
                    <a:pt x="0" y="0"/>
                  </a:lnTo>
                  <a:close/>
                </a:path>
              </a:pathLst>
            </a:custGeom>
            <a:solidFill>
              <a:srgbClr val="FDF8F9"/>
            </a:solidFill>
          </p:spPr>
        </p:sp>
      </p:grpSp>
      <p:grpSp>
        <p:nvGrpSpPr>
          <p:cNvPr id="8" name="Group 8"/>
          <p:cNvGrpSpPr/>
          <p:nvPr/>
        </p:nvGrpSpPr>
        <p:grpSpPr>
          <a:xfrm>
            <a:off x="1156240" y="-144680"/>
            <a:ext cx="57150" cy="10794124"/>
            <a:chOff x="0" y="0"/>
            <a:chExt cx="76200" cy="14392165"/>
          </a:xfrm>
        </p:grpSpPr>
        <p:sp>
          <p:nvSpPr>
            <p:cNvPr id="9" name="Freeform 9"/>
            <p:cNvSpPr/>
            <p:nvPr/>
          </p:nvSpPr>
          <p:spPr>
            <a:xfrm>
              <a:off x="0" y="25400"/>
              <a:ext cx="76200" cy="14341475"/>
            </a:xfrm>
            <a:custGeom>
              <a:avLst/>
              <a:gdLst/>
              <a:ahLst/>
              <a:cxnLst/>
              <a:rect l="l" t="t" r="r" b="b"/>
              <a:pathLst>
                <a:path w="76200" h="14341475">
                  <a:moveTo>
                    <a:pt x="50800" y="0"/>
                  </a:moveTo>
                  <a:lnTo>
                    <a:pt x="76200" y="14341348"/>
                  </a:lnTo>
                  <a:lnTo>
                    <a:pt x="25400" y="14341475"/>
                  </a:lnTo>
                  <a:lnTo>
                    <a:pt x="0" y="0"/>
                  </a:lnTo>
                  <a:close/>
                </a:path>
              </a:pathLst>
            </a:custGeom>
            <a:solidFill>
              <a:srgbClr val="FDF8F9"/>
            </a:solidFill>
          </p:spPr>
        </p:sp>
      </p:grpSp>
      <p:grpSp>
        <p:nvGrpSpPr>
          <p:cNvPr id="10" name="Group 10"/>
          <p:cNvGrpSpPr/>
          <p:nvPr/>
        </p:nvGrpSpPr>
        <p:grpSpPr>
          <a:xfrm>
            <a:off x="935146" y="-28575"/>
            <a:ext cx="69019" cy="10344150"/>
            <a:chOff x="0" y="0"/>
            <a:chExt cx="92025" cy="13792200"/>
          </a:xfrm>
        </p:grpSpPr>
        <p:sp>
          <p:nvSpPr>
            <p:cNvPr id="11" name="Freeform 11"/>
            <p:cNvSpPr/>
            <p:nvPr/>
          </p:nvSpPr>
          <p:spPr>
            <a:xfrm>
              <a:off x="0" y="38100"/>
              <a:ext cx="92075" cy="13716000"/>
            </a:xfrm>
            <a:custGeom>
              <a:avLst/>
              <a:gdLst/>
              <a:ahLst/>
              <a:cxnLst/>
              <a:rect l="l" t="t" r="r" b="b"/>
              <a:pathLst>
                <a:path w="92075" h="13716000">
                  <a:moveTo>
                    <a:pt x="15875" y="13716000"/>
                  </a:moveTo>
                  <a:lnTo>
                    <a:pt x="0" y="0"/>
                  </a:lnTo>
                  <a:lnTo>
                    <a:pt x="76200" y="0"/>
                  </a:lnTo>
                  <a:lnTo>
                    <a:pt x="92075" y="13716000"/>
                  </a:lnTo>
                  <a:close/>
                </a:path>
              </a:pathLst>
            </a:custGeom>
            <a:solidFill>
              <a:srgbClr val="CF0A2D"/>
            </a:solidFill>
          </p:spPr>
        </p:sp>
      </p:grpSp>
      <p:sp>
        <p:nvSpPr>
          <p:cNvPr id="12" name="Freeform 12"/>
          <p:cNvSpPr/>
          <p:nvPr/>
        </p:nvSpPr>
        <p:spPr>
          <a:xfrm>
            <a:off x="353090" y="4595547"/>
            <a:ext cx="1095905" cy="1095905"/>
          </a:xfrm>
          <a:custGeom>
            <a:avLst/>
            <a:gdLst/>
            <a:ahLst/>
            <a:cxnLst/>
            <a:rect l="l" t="t" r="r" b="b"/>
            <a:pathLst>
              <a:path w="1095905" h="1095905">
                <a:moveTo>
                  <a:pt x="0" y="0"/>
                </a:moveTo>
                <a:lnTo>
                  <a:pt x="1095905" y="0"/>
                </a:lnTo>
                <a:lnTo>
                  <a:pt x="1095905" y="1095905"/>
                </a:lnTo>
                <a:lnTo>
                  <a:pt x="0" y="10959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95940" y="4585520"/>
            <a:ext cx="2697890" cy="1154061"/>
            <a:chOff x="0" y="0"/>
            <a:chExt cx="3597187" cy="1538748"/>
          </a:xfrm>
        </p:grpSpPr>
        <p:sp>
          <p:nvSpPr>
            <p:cNvPr id="14" name="Freeform 14"/>
            <p:cNvSpPr/>
            <p:nvPr/>
          </p:nvSpPr>
          <p:spPr>
            <a:xfrm>
              <a:off x="0" y="0"/>
              <a:ext cx="3597148" cy="1538732"/>
            </a:xfrm>
            <a:custGeom>
              <a:avLst/>
              <a:gdLst/>
              <a:ahLst/>
              <a:cxnLst/>
              <a:rect l="l" t="t" r="r" b="b"/>
              <a:pathLst>
                <a:path w="3597148" h="1538732">
                  <a:moveTo>
                    <a:pt x="0" y="0"/>
                  </a:moveTo>
                  <a:lnTo>
                    <a:pt x="3597148" y="0"/>
                  </a:lnTo>
                  <a:lnTo>
                    <a:pt x="3597148" y="1538732"/>
                  </a:lnTo>
                  <a:lnTo>
                    <a:pt x="0" y="1538732"/>
                  </a:lnTo>
                  <a:lnTo>
                    <a:pt x="0" y="0"/>
                  </a:lnTo>
                  <a:close/>
                </a:path>
              </a:pathLst>
            </a:custGeom>
            <a:blipFill>
              <a:blip r:embed="rId4"/>
              <a:stretch>
                <a:fillRect t="-66887" r="-1" b="-66888"/>
              </a:stretch>
            </a:blipFill>
          </p:spPr>
        </p:sp>
      </p:grpSp>
      <p:sp>
        <p:nvSpPr>
          <p:cNvPr id="15" name="TextBox 15"/>
          <p:cNvSpPr txBox="1"/>
          <p:nvPr/>
        </p:nvSpPr>
        <p:spPr>
          <a:xfrm rot="-5400000">
            <a:off x="-1025645" y="8533172"/>
            <a:ext cx="2718073" cy="415417"/>
          </a:xfrm>
          <a:prstGeom prst="rect">
            <a:avLst/>
          </a:prstGeom>
        </p:spPr>
        <p:txBody>
          <a:bodyPr lIns="0" tIns="0" rIns="0" bIns="0" rtlCol="0" anchor="t">
            <a:spAutoFit/>
          </a:bodyPr>
          <a:lstStyle/>
          <a:p>
            <a:pPr algn="l">
              <a:lnSpc>
                <a:spcPts val="3358"/>
              </a:lnSpc>
            </a:pPr>
            <a:r>
              <a:rPr lang="en-US" sz="2400" b="1">
                <a:solidFill>
                  <a:srgbClr val="FDF8F9"/>
                </a:solidFill>
                <a:latin typeface="Times New Roman Bold"/>
                <a:ea typeface="Times New Roman Bold"/>
                <a:cs typeface="Times New Roman Bold"/>
                <a:sym typeface="Times New Roman Bold"/>
              </a:rPr>
              <a:t>SUNUM ŞABLONU</a:t>
            </a:r>
          </a:p>
        </p:txBody>
      </p:sp>
      <p:sp>
        <p:nvSpPr>
          <p:cNvPr id="16" name="TextBox 16"/>
          <p:cNvSpPr txBox="1"/>
          <p:nvPr/>
        </p:nvSpPr>
        <p:spPr>
          <a:xfrm rot="-5400000">
            <a:off x="-2289137" y="1940443"/>
            <a:ext cx="5322813" cy="399148"/>
          </a:xfrm>
          <a:prstGeom prst="rect">
            <a:avLst/>
          </a:prstGeom>
        </p:spPr>
        <p:txBody>
          <a:bodyPr lIns="0" tIns="0" rIns="0" bIns="0" rtlCol="0" anchor="t">
            <a:spAutoFit/>
          </a:bodyPr>
          <a:lstStyle/>
          <a:p>
            <a:pPr marL="259080" lvl="1" algn="l">
              <a:lnSpc>
                <a:spcPts val="3358"/>
              </a:lnSpc>
            </a:pPr>
            <a:r>
              <a:rPr lang="tr-TR" sz="2400" b="1" dirty="0">
                <a:solidFill>
                  <a:srgbClr val="FDF8F9"/>
                </a:solidFill>
                <a:latin typeface="Times New Roman Bold"/>
                <a:ea typeface="Times New Roman Bold"/>
                <a:cs typeface="Times New Roman Bold"/>
                <a:sym typeface="Times New Roman Bold"/>
              </a:rPr>
              <a:t>2.</a:t>
            </a:r>
            <a:r>
              <a:rPr lang="en-US" sz="2400" b="1" dirty="0">
                <a:solidFill>
                  <a:srgbClr val="FDF8F9"/>
                </a:solidFill>
                <a:latin typeface="Times New Roman Bold"/>
                <a:ea typeface="Times New Roman Bold"/>
                <a:cs typeface="Times New Roman Bold"/>
                <a:sym typeface="Times New Roman Bold"/>
              </a:rPr>
              <a:t>PROJE VADİ PROJE PAZARI</a:t>
            </a:r>
          </a:p>
        </p:txBody>
      </p:sp>
      <p:sp>
        <p:nvSpPr>
          <p:cNvPr id="17" name="Freeform 17"/>
          <p:cNvSpPr/>
          <p:nvPr/>
        </p:nvSpPr>
        <p:spPr>
          <a:xfrm>
            <a:off x="3098605" y="320226"/>
            <a:ext cx="14630399" cy="8962395"/>
          </a:xfrm>
          <a:custGeom>
            <a:avLst/>
            <a:gdLst/>
            <a:ahLst/>
            <a:cxnLst/>
            <a:rect l="l" t="t" r="r" b="b"/>
            <a:pathLst>
              <a:path w="14630399" h="8962395">
                <a:moveTo>
                  <a:pt x="0" y="0"/>
                </a:moveTo>
                <a:lnTo>
                  <a:pt x="14630399" y="0"/>
                </a:lnTo>
                <a:lnTo>
                  <a:pt x="14630399" y="8962395"/>
                </a:lnTo>
                <a:lnTo>
                  <a:pt x="0" y="8962395"/>
                </a:lnTo>
                <a:lnTo>
                  <a:pt x="0" y="0"/>
                </a:lnTo>
                <a:close/>
              </a:path>
            </a:pathLst>
          </a:custGeom>
          <a:blipFill>
            <a:blip r:embed="rId5"/>
            <a:stretch>
              <a:fillRect l="-4452" r="-4452"/>
            </a:stretch>
          </a:blipFill>
        </p:spPr>
      </p:sp>
      <p:sp>
        <p:nvSpPr>
          <p:cNvPr id="18" name="Freeform 18"/>
          <p:cNvSpPr/>
          <p:nvPr/>
        </p:nvSpPr>
        <p:spPr>
          <a:xfrm>
            <a:off x="15989477" y="949972"/>
            <a:ext cx="1799190" cy="1272927"/>
          </a:xfrm>
          <a:custGeom>
            <a:avLst/>
            <a:gdLst/>
            <a:ahLst/>
            <a:cxnLst/>
            <a:rect l="l" t="t" r="r" b="b"/>
            <a:pathLst>
              <a:path w="1799190" h="1272927">
                <a:moveTo>
                  <a:pt x="0" y="0"/>
                </a:moveTo>
                <a:lnTo>
                  <a:pt x="1799190" y="0"/>
                </a:lnTo>
                <a:lnTo>
                  <a:pt x="1799190" y="1272926"/>
                </a:lnTo>
                <a:lnTo>
                  <a:pt x="0" y="1272926"/>
                </a:lnTo>
                <a:lnTo>
                  <a:pt x="0" y="0"/>
                </a:lnTo>
                <a:close/>
              </a:path>
            </a:pathLst>
          </a:custGeom>
          <a:blipFill>
            <a:blip r:embed="rId6"/>
            <a:stretch>
              <a:fillRect/>
            </a:stretch>
          </a:blipFill>
        </p:spPr>
      </p:sp>
      <p:sp>
        <p:nvSpPr>
          <p:cNvPr id="19" name="Rectangle 18"/>
          <p:cNvSpPr/>
          <p:nvPr/>
        </p:nvSpPr>
        <p:spPr>
          <a:xfrm>
            <a:off x="3240000" y="1944000"/>
            <a:ext cx="7056000" cy="55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OyunİciGoruntu16-9.png"/>
          <p:cNvPicPr>
            <a:picLocks noChangeAspect="1"/>
          </p:cNvPicPr>
          <p:nvPr/>
        </p:nvPicPr>
        <p:blipFill>
          <a:blip r:embed="rId7"/>
          <a:stretch>
            <a:fillRect/>
          </a:stretch>
        </p:blipFill>
        <p:spPr>
          <a:xfrm>
            <a:off x="3240000" y="2730554"/>
            <a:ext cx="7056000" cy="3970890"/>
          </a:xfrm>
          <a:prstGeom prst="rect">
            <a:avLst/>
          </a:prstGeom>
        </p:spPr>
      </p:pic>
      <p:sp>
        <p:nvSpPr>
          <p:cNvPr id="21" name="TextBox 20"/>
          <p:cNvSpPr txBox="1"/>
          <p:nvPr/>
        </p:nvSpPr>
        <p:spPr>
          <a:xfrm>
            <a:off x="10800000" y="2772000"/>
            <a:ext cx="6480000" cy="4140000"/>
          </a:xfrm>
          <a:prstGeom prst="rect">
            <a:avLst/>
          </a:prstGeom>
          <a:noFill/>
        </p:spPr>
        <p:txBody>
          <a:bodyPr wrap="square" lIns="108000" rIns="108000" tIns="54000" bIns="54000" anchor="t">
            <a:noAutofit/>
          </a:bodyPr>
          <a:lstStyle/>
          <a:p>
            <a:pPr algn="just">
              <a:spcAft>
                <a:spcPts val="800"/>
              </a:spcAft>
            </a:pPr>
            <a:r>
              <a:rPr sz="1300" b="0">
                <a:solidFill>
                  <a:srgbClr val="1A1A1A"/>
                </a:solidFill>
                <a:latin typeface="Calibri"/>
              </a:rPr>
              <a:t>Sistem; OpenXR üzerinden gelen tracker pozlarını kalibrasyon ofseti ile kemik yönelimine çevirir, ardından kalça ve diz lokal rotasyonlarını hiyerarşik FK ile çıkarır. Aynı veri akışı tam vücut IK ile avatar sürüşüne aktarılır.</a:t>
            </a:r>
          </a:p>
          <a:p>
            <a:pPr algn="just">
              <a:spcAft>
                <a:spcPts val="1200"/>
              </a:spcAft>
            </a:pPr>
            <a:r>
              <a:rPr sz="1300" b="0">
                <a:solidFill>
                  <a:srgbClr val="1A1A1A"/>
                </a:solidFill>
                <a:latin typeface="Calibri"/>
              </a:rPr>
              <a:t>Görev motoru bu hareket sinyallerini valgus eğilimi, diz fleksiyonu, reach yüzdesi ve pelvis sway RMS gibi yorumlanabilir metriklere dönüştürür.</a:t>
            </a:r>
          </a:p>
          <a:p>
            <a:pPr algn="l">
              <a:spcAft>
                <a:spcPts val="400"/>
              </a:spcAft>
            </a:pPr>
            <a:r>
              <a:rPr sz="1200" b="1">
                <a:solidFill>
                  <a:srgbClr val="8B0000"/>
                </a:solidFill>
                <a:latin typeface="Calibri"/>
              </a:rPr>
              <a:t>Yandaki görsel için öneri</a:t>
            </a:r>
          </a:p>
          <a:p>
            <a:pPr algn="l">
              <a:spcAft>
                <a:spcPts val="200"/>
              </a:spcAft>
            </a:pPr>
            <a:r>
              <a:rPr sz="1100" b="0">
                <a:solidFill>
                  <a:srgbClr val="1A1A1A"/>
                </a:solidFill>
                <a:latin typeface="Calibri"/>
              </a:rPr>
              <a:t>•  Kullanıcının HMD ve tracker'larla nötr poz aldığı kalibrasyon ekranı.</a:t>
            </a:r>
          </a:p>
          <a:p>
            <a:pPr algn="l"/>
            <a:r>
              <a:rPr sz="1100" b="0">
                <a:solidFill>
                  <a:srgbClr val="1A1A1A"/>
                </a:solidFill>
                <a:latin typeface="Calibri"/>
              </a:rPr>
              <a:t>•  Tam vücut avatar üzerinde kalça/diz açı göstergeleri.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87750" y="9776690"/>
            <a:ext cx="57150" cy="538885"/>
            <a:chOff x="0" y="0"/>
            <a:chExt cx="76200" cy="718513"/>
          </a:xfrm>
        </p:grpSpPr>
        <p:sp>
          <p:nvSpPr>
            <p:cNvPr id="3" name="Freeform 3"/>
            <p:cNvSpPr/>
            <p:nvPr/>
          </p:nvSpPr>
          <p:spPr>
            <a:xfrm>
              <a:off x="0" y="38100"/>
              <a:ext cx="76200" cy="642366"/>
            </a:xfrm>
            <a:custGeom>
              <a:avLst/>
              <a:gdLst/>
              <a:ahLst/>
              <a:cxnLst/>
              <a:rect l="l" t="t" r="r" b="b"/>
              <a:pathLst>
                <a:path w="76200" h="642366">
                  <a:moveTo>
                    <a:pt x="0" y="642366"/>
                  </a:moveTo>
                  <a:lnTo>
                    <a:pt x="0" y="0"/>
                  </a:lnTo>
                  <a:lnTo>
                    <a:pt x="76200" y="0"/>
                  </a:lnTo>
                  <a:lnTo>
                    <a:pt x="76200" y="642366"/>
                  </a:lnTo>
                  <a:close/>
                </a:path>
              </a:pathLst>
            </a:custGeom>
            <a:solidFill>
              <a:srgbClr val="CF0A2D"/>
            </a:solidFill>
          </p:spPr>
        </p:sp>
      </p:grpSp>
      <p:sp>
        <p:nvSpPr>
          <p:cNvPr id="4" name="TextBox 4"/>
          <p:cNvSpPr txBox="1"/>
          <p:nvPr/>
        </p:nvSpPr>
        <p:spPr>
          <a:xfrm>
            <a:off x="17659350" y="9730397"/>
            <a:ext cx="420982" cy="415315"/>
          </a:xfrm>
          <a:prstGeom prst="rect">
            <a:avLst/>
          </a:prstGeom>
        </p:spPr>
        <p:txBody>
          <a:bodyPr lIns="0" tIns="0" rIns="0" bIns="0" rtlCol="0" anchor="t">
            <a:spAutoFit/>
          </a:bodyPr>
          <a:lstStyle/>
          <a:p>
            <a:pPr algn="ctr">
              <a:lnSpc>
                <a:spcPts val="3361"/>
              </a:lnSpc>
            </a:pPr>
            <a:r>
              <a:rPr lang="en-US" sz="2401" b="1">
                <a:solidFill>
                  <a:srgbClr val="CF0A2D"/>
                </a:solidFill>
                <a:latin typeface="Times New Roman Bold"/>
                <a:ea typeface="Times New Roman Bold"/>
                <a:cs typeface="Times New Roman Bold"/>
                <a:sym typeface="Times New Roman Bold"/>
              </a:rPr>
              <a:t>6</a:t>
            </a:r>
          </a:p>
        </p:txBody>
      </p:sp>
      <p:sp>
        <p:nvSpPr>
          <p:cNvPr id="5" name="Freeform 5"/>
          <p:cNvSpPr/>
          <p:nvPr/>
        </p:nvSpPr>
        <p:spPr>
          <a:xfrm>
            <a:off x="-23181" y="-397564"/>
            <a:ext cx="888647" cy="10889239"/>
          </a:xfrm>
          <a:custGeom>
            <a:avLst/>
            <a:gdLst/>
            <a:ahLst/>
            <a:cxnLst/>
            <a:rect l="l" t="t" r="r" b="b"/>
            <a:pathLst>
              <a:path w="888647" h="10889239">
                <a:moveTo>
                  <a:pt x="0" y="0"/>
                </a:moveTo>
                <a:lnTo>
                  <a:pt x="888646" y="0"/>
                </a:lnTo>
                <a:lnTo>
                  <a:pt x="888646" y="10889239"/>
                </a:lnTo>
                <a:lnTo>
                  <a:pt x="0" y="10889239"/>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990600" y="-19050"/>
            <a:ext cx="57150" cy="10794124"/>
            <a:chOff x="0" y="0"/>
            <a:chExt cx="76200" cy="14392165"/>
          </a:xfrm>
        </p:grpSpPr>
        <p:sp>
          <p:nvSpPr>
            <p:cNvPr id="7" name="Freeform 7"/>
            <p:cNvSpPr/>
            <p:nvPr/>
          </p:nvSpPr>
          <p:spPr>
            <a:xfrm>
              <a:off x="0" y="25400"/>
              <a:ext cx="76200" cy="14341475"/>
            </a:xfrm>
            <a:custGeom>
              <a:avLst/>
              <a:gdLst/>
              <a:ahLst/>
              <a:cxnLst/>
              <a:rect l="l" t="t" r="r" b="b"/>
              <a:pathLst>
                <a:path w="76200" h="14341475">
                  <a:moveTo>
                    <a:pt x="50800" y="0"/>
                  </a:moveTo>
                  <a:lnTo>
                    <a:pt x="76200" y="14341348"/>
                  </a:lnTo>
                  <a:lnTo>
                    <a:pt x="25400" y="14341475"/>
                  </a:lnTo>
                  <a:lnTo>
                    <a:pt x="0" y="0"/>
                  </a:lnTo>
                  <a:close/>
                </a:path>
              </a:pathLst>
            </a:custGeom>
            <a:solidFill>
              <a:srgbClr val="FDF8F9"/>
            </a:solidFill>
          </p:spPr>
        </p:sp>
      </p:grpSp>
      <p:grpSp>
        <p:nvGrpSpPr>
          <p:cNvPr id="8" name="Group 8"/>
          <p:cNvGrpSpPr/>
          <p:nvPr/>
        </p:nvGrpSpPr>
        <p:grpSpPr>
          <a:xfrm>
            <a:off x="1156240" y="-144680"/>
            <a:ext cx="57150" cy="10794124"/>
            <a:chOff x="0" y="0"/>
            <a:chExt cx="76200" cy="14392165"/>
          </a:xfrm>
        </p:grpSpPr>
        <p:sp>
          <p:nvSpPr>
            <p:cNvPr id="9" name="Freeform 9"/>
            <p:cNvSpPr/>
            <p:nvPr/>
          </p:nvSpPr>
          <p:spPr>
            <a:xfrm>
              <a:off x="0" y="25400"/>
              <a:ext cx="76200" cy="14341475"/>
            </a:xfrm>
            <a:custGeom>
              <a:avLst/>
              <a:gdLst/>
              <a:ahLst/>
              <a:cxnLst/>
              <a:rect l="l" t="t" r="r" b="b"/>
              <a:pathLst>
                <a:path w="76200" h="14341475">
                  <a:moveTo>
                    <a:pt x="50800" y="0"/>
                  </a:moveTo>
                  <a:lnTo>
                    <a:pt x="76200" y="14341348"/>
                  </a:lnTo>
                  <a:lnTo>
                    <a:pt x="25400" y="14341475"/>
                  </a:lnTo>
                  <a:lnTo>
                    <a:pt x="0" y="0"/>
                  </a:lnTo>
                  <a:close/>
                </a:path>
              </a:pathLst>
            </a:custGeom>
            <a:solidFill>
              <a:srgbClr val="FDF8F9"/>
            </a:solidFill>
          </p:spPr>
        </p:sp>
      </p:grpSp>
      <p:grpSp>
        <p:nvGrpSpPr>
          <p:cNvPr id="10" name="Group 10"/>
          <p:cNvGrpSpPr/>
          <p:nvPr/>
        </p:nvGrpSpPr>
        <p:grpSpPr>
          <a:xfrm>
            <a:off x="935146" y="-28575"/>
            <a:ext cx="69019" cy="10344150"/>
            <a:chOff x="0" y="0"/>
            <a:chExt cx="92025" cy="13792200"/>
          </a:xfrm>
        </p:grpSpPr>
        <p:sp>
          <p:nvSpPr>
            <p:cNvPr id="11" name="Freeform 11"/>
            <p:cNvSpPr/>
            <p:nvPr/>
          </p:nvSpPr>
          <p:spPr>
            <a:xfrm>
              <a:off x="0" y="38100"/>
              <a:ext cx="92075" cy="13716000"/>
            </a:xfrm>
            <a:custGeom>
              <a:avLst/>
              <a:gdLst/>
              <a:ahLst/>
              <a:cxnLst/>
              <a:rect l="l" t="t" r="r" b="b"/>
              <a:pathLst>
                <a:path w="92075" h="13716000">
                  <a:moveTo>
                    <a:pt x="15875" y="13716000"/>
                  </a:moveTo>
                  <a:lnTo>
                    <a:pt x="0" y="0"/>
                  </a:lnTo>
                  <a:lnTo>
                    <a:pt x="76200" y="0"/>
                  </a:lnTo>
                  <a:lnTo>
                    <a:pt x="92075" y="13716000"/>
                  </a:lnTo>
                  <a:close/>
                </a:path>
              </a:pathLst>
            </a:custGeom>
            <a:solidFill>
              <a:srgbClr val="CF0A2D"/>
            </a:solidFill>
          </p:spPr>
        </p:sp>
      </p:grpSp>
      <p:sp>
        <p:nvSpPr>
          <p:cNvPr id="12" name="Freeform 12"/>
          <p:cNvSpPr/>
          <p:nvPr/>
        </p:nvSpPr>
        <p:spPr>
          <a:xfrm>
            <a:off x="353090" y="4595547"/>
            <a:ext cx="1095905" cy="1095905"/>
          </a:xfrm>
          <a:custGeom>
            <a:avLst/>
            <a:gdLst/>
            <a:ahLst/>
            <a:cxnLst/>
            <a:rect l="l" t="t" r="r" b="b"/>
            <a:pathLst>
              <a:path w="1095905" h="1095905">
                <a:moveTo>
                  <a:pt x="0" y="0"/>
                </a:moveTo>
                <a:lnTo>
                  <a:pt x="1095905" y="0"/>
                </a:lnTo>
                <a:lnTo>
                  <a:pt x="1095905" y="1095905"/>
                </a:lnTo>
                <a:lnTo>
                  <a:pt x="0" y="10959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95940" y="4585520"/>
            <a:ext cx="2697890" cy="1154061"/>
            <a:chOff x="0" y="0"/>
            <a:chExt cx="3597187" cy="1538748"/>
          </a:xfrm>
        </p:grpSpPr>
        <p:sp>
          <p:nvSpPr>
            <p:cNvPr id="14" name="Freeform 14"/>
            <p:cNvSpPr/>
            <p:nvPr/>
          </p:nvSpPr>
          <p:spPr>
            <a:xfrm>
              <a:off x="0" y="0"/>
              <a:ext cx="3597148" cy="1538732"/>
            </a:xfrm>
            <a:custGeom>
              <a:avLst/>
              <a:gdLst/>
              <a:ahLst/>
              <a:cxnLst/>
              <a:rect l="l" t="t" r="r" b="b"/>
              <a:pathLst>
                <a:path w="3597148" h="1538732">
                  <a:moveTo>
                    <a:pt x="0" y="0"/>
                  </a:moveTo>
                  <a:lnTo>
                    <a:pt x="3597148" y="0"/>
                  </a:lnTo>
                  <a:lnTo>
                    <a:pt x="3597148" y="1538732"/>
                  </a:lnTo>
                  <a:lnTo>
                    <a:pt x="0" y="1538732"/>
                  </a:lnTo>
                  <a:lnTo>
                    <a:pt x="0" y="0"/>
                  </a:lnTo>
                  <a:close/>
                </a:path>
              </a:pathLst>
            </a:custGeom>
            <a:blipFill>
              <a:blip r:embed="rId4"/>
              <a:stretch>
                <a:fillRect t="-66887" r="-1" b="-66888"/>
              </a:stretch>
            </a:blipFill>
          </p:spPr>
        </p:sp>
      </p:grpSp>
      <p:sp>
        <p:nvSpPr>
          <p:cNvPr id="15" name="TextBox 15"/>
          <p:cNvSpPr txBox="1"/>
          <p:nvPr/>
        </p:nvSpPr>
        <p:spPr>
          <a:xfrm rot="-5400000">
            <a:off x="-1025645" y="8533172"/>
            <a:ext cx="2718073" cy="415417"/>
          </a:xfrm>
          <a:prstGeom prst="rect">
            <a:avLst/>
          </a:prstGeom>
        </p:spPr>
        <p:txBody>
          <a:bodyPr lIns="0" tIns="0" rIns="0" bIns="0" rtlCol="0" anchor="t">
            <a:spAutoFit/>
          </a:bodyPr>
          <a:lstStyle/>
          <a:p>
            <a:pPr algn="l">
              <a:lnSpc>
                <a:spcPts val="3358"/>
              </a:lnSpc>
            </a:pPr>
            <a:r>
              <a:rPr lang="en-US" sz="2400" b="1">
                <a:solidFill>
                  <a:srgbClr val="FDF8F9"/>
                </a:solidFill>
                <a:latin typeface="Times New Roman Bold"/>
                <a:ea typeface="Times New Roman Bold"/>
                <a:cs typeface="Times New Roman Bold"/>
                <a:sym typeface="Times New Roman Bold"/>
              </a:rPr>
              <a:t>SUNUM ŞABLONU</a:t>
            </a:r>
          </a:p>
        </p:txBody>
      </p:sp>
      <p:sp>
        <p:nvSpPr>
          <p:cNvPr id="16" name="TextBox 16"/>
          <p:cNvSpPr txBox="1"/>
          <p:nvPr/>
        </p:nvSpPr>
        <p:spPr>
          <a:xfrm rot="-5400000">
            <a:off x="-2289137" y="1940443"/>
            <a:ext cx="5322813" cy="399148"/>
          </a:xfrm>
          <a:prstGeom prst="rect">
            <a:avLst/>
          </a:prstGeom>
        </p:spPr>
        <p:txBody>
          <a:bodyPr lIns="0" tIns="0" rIns="0" bIns="0" rtlCol="0" anchor="t">
            <a:spAutoFit/>
          </a:bodyPr>
          <a:lstStyle/>
          <a:p>
            <a:pPr marL="259080" lvl="1" algn="l">
              <a:lnSpc>
                <a:spcPts val="3358"/>
              </a:lnSpc>
            </a:pPr>
            <a:r>
              <a:rPr lang="tr-TR" sz="2400" b="1" dirty="0">
                <a:solidFill>
                  <a:srgbClr val="FDF8F9"/>
                </a:solidFill>
                <a:latin typeface="Times New Roman Bold"/>
                <a:ea typeface="Times New Roman Bold"/>
                <a:cs typeface="Times New Roman Bold"/>
                <a:sym typeface="Times New Roman Bold"/>
              </a:rPr>
              <a:t>2.</a:t>
            </a:r>
            <a:r>
              <a:rPr lang="en-US" sz="2400" b="1" dirty="0">
                <a:solidFill>
                  <a:srgbClr val="FDF8F9"/>
                </a:solidFill>
                <a:latin typeface="Times New Roman Bold"/>
                <a:ea typeface="Times New Roman Bold"/>
                <a:cs typeface="Times New Roman Bold"/>
                <a:sym typeface="Times New Roman Bold"/>
              </a:rPr>
              <a:t>PROJE VADİ PROJE PAZARI</a:t>
            </a:r>
          </a:p>
        </p:txBody>
      </p:sp>
      <p:sp>
        <p:nvSpPr>
          <p:cNvPr id="17" name="Freeform 17"/>
          <p:cNvSpPr/>
          <p:nvPr/>
        </p:nvSpPr>
        <p:spPr>
          <a:xfrm>
            <a:off x="3060505" y="373750"/>
            <a:ext cx="14981727" cy="8679798"/>
          </a:xfrm>
          <a:custGeom>
            <a:avLst/>
            <a:gdLst/>
            <a:ahLst/>
            <a:cxnLst/>
            <a:rect l="l" t="t" r="r" b="b"/>
            <a:pathLst>
              <a:path w="14981727" h="8679798">
                <a:moveTo>
                  <a:pt x="0" y="0"/>
                </a:moveTo>
                <a:lnTo>
                  <a:pt x="14981727" y="0"/>
                </a:lnTo>
                <a:lnTo>
                  <a:pt x="14981727" y="8679798"/>
                </a:lnTo>
                <a:lnTo>
                  <a:pt x="0" y="8679798"/>
                </a:lnTo>
                <a:lnTo>
                  <a:pt x="0" y="0"/>
                </a:lnTo>
                <a:close/>
              </a:path>
            </a:pathLst>
          </a:custGeom>
          <a:blipFill>
            <a:blip r:embed="rId5"/>
            <a:stretch>
              <a:fillRect l="-1498" r="-1498"/>
            </a:stretch>
          </a:blipFill>
        </p:spPr>
      </p:sp>
      <p:sp>
        <p:nvSpPr>
          <p:cNvPr id="18" name="Freeform 18"/>
          <p:cNvSpPr/>
          <p:nvPr/>
        </p:nvSpPr>
        <p:spPr>
          <a:xfrm>
            <a:off x="15989477" y="949972"/>
            <a:ext cx="1799190" cy="1272927"/>
          </a:xfrm>
          <a:custGeom>
            <a:avLst/>
            <a:gdLst/>
            <a:ahLst/>
            <a:cxnLst/>
            <a:rect l="l" t="t" r="r" b="b"/>
            <a:pathLst>
              <a:path w="1799190" h="1272927">
                <a:moveTo>
                  <a:pt x="0" y="0"/>
                </a:moveTo>
                <a:lnTo>
                  <a:pt x="1799190" y="0"/>
                </a:lnTo>
                <a:lnTo>
                  <a:pt x="1799190" y="1272926"/>
                </a:lnTo>
                <a:lnTo>
                  <a:pt x="0" y="1272926"/>
                </a:lnTo>
                <a:lnTo>
                  <a:pt x="0" y="0"/>
                </a:lnTo>
                <a:close/>
              </a:path>
            </a:pathLst>
          </a:custGeom>
          <a:blipFill>
            <a:blip r:embed="rId6"/>
            <a:stretch>
              <a:fillRect/>
            </a:stretch>
          </a:blipFill>
        </p:spPr>
      </p:sp>
      <p:sp>
        <p:nvSpPr>
          <p:cNvPr id="19" name="Rectangle 18"/>
          <p:cNvSpPr/>
          <p:nvPr/>
        </p:nvSpPr>
        <p:spPr>
          <a:xfrm>
            <a:off x="3131999" y="1800000"/>
            <a:ext cx="3960000" cy="46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ackerYerlesimleri.jpeg"/>
          <p:cNvPicPr>
            <a:picLocks noChangeAspect="1"/>
          </p:cNvPicPr>
          <p:nvPr/>
        </p:nvPicPr>
        <p:blipFill>
          <a:blip r:embed="rId7"/>
          <a:stretch>
            <a:fillRect/>
          </a:stretch>
        </p:blipFill>
        <p:spPr>
          <a:xfrm>
            <a:off x="3778429" y="1800000"/>
            <a:ext cx="2667141" cy="4680000"/>
          </a:xfrm>
          <a:prstGeom prst="rect">
            <a:avLst/>
          </a:prstGeom>
        </p:spPr>
      </p:pic>
      <p:sp>
        <p:nvSpPr>
          <p:cNvPr id="21" name="Rectangle 20"/>
          <p:cNvSpPr/>
          <p:nvPr/>
        </p:nvSpPr>
        <p:spPr>
          <a:xfrm>
            <a:off x="7452000" y="1800000"/>
            <a:ext cx="3960000" cy="46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ditorOyunİciGoruntu3-2.png"/>
          <p:cNvPicPr>
            <a:picLocks noChangeAspect="1"/>
          </p:cNvPicPr>
          <p:nvPr/>
        </p:nvPicPr>
        <p:blipFill>
          <a:blip r:embed="rId8"/>
          <a:stretch>
            <a:fillRect/>
          </a:stretch>
        </p:blipFill>
        <p:spPr>
          <a:xfrm>
            <a:off x="7452000" y="2820000"/>
            <a:ext cx="3960000" cy="2640000"/>
          </a:xfrm>
          <a:prstGeom prst="rect">
            <a:avLst/>
          </a:prstGeom>
        </p:spPr>
      </p:pic>
      <p:sp>
        <p:nvSpPr>
          <p:cNvPr id="23" name="Rectangle 22"/>
          <p:cNvSpPr/>
          <p:nvPr/>
        </p:nvSpPr>
        <p:spPr>
          <a:xfrm>
            <a:off x="11772000" y="1800000"/>
            <a:ext cx="3960000" cy="46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KayitAnaliz3-2.png"/>
          <p:cNvPicPr>
            <a:picLocks noChangeAspect="1"/>
          </p:cNvPicPr>
          <p:nvPr/>
        </p:nvPicPr>
        <p:blipFill>
          <a:blip r:embed="rId9"/>
          <a:stretch>
            <a:fillRect/>
          </a:stretch>
        </p:blipFill>
        <p:spPr>
          <a:xfrm>
            <a:off x="11772000" y="2820877"/>
            <a:ext cx="3960000" cy="2638244"/>
          </a:xfrm>
          <a:prstGeom prst="rect">
            <a:avLst/>
          </a:prstGeom>
        </p:spPr>
      </p:pic>
      <p:sp>
        <p:nvSpPr>
          <p:cNvPr id="25" name="TextBox 24"/>
          <p:cNvSpPr txBox="1"/>
          <p:nvPr/>
        </p:nvSpPr>
        <p:spPr>
          <a:xfrm>
            <a:off x="7560000" y="6948000"/>
            <a:ext cx="9540000" cy="900000"/>
          </a:xfrm>
          <a:prstGeom prst="rect">
            <a:avLst/>
          </a:prstGeom>
          <a:noFill/>
        </p:spPr>
        <p:txBody>
          <a:bodyPr wrap="square" lIns="108000" rIns="108000" tIns="54000" bIns="54000" anchor="t">
            <a:noAutofit/>
          </a:bodyPr>
          <a:lstStyle/>
          <a:p>
            <a:pPr algn="l">
              <a:spcAft>
                <a:spcPts val="100"/>
              </a:spcAft>
            </a:pPr>
            <a:r>
              <a:rPr sz="1000" b="0">
                <a:solidFill>
                  <a:srgbClr val="1A1A1A"/>
                </a:solidFill>
                <a:latin typeface="Calibri"/>
              </a:rPr>
              <a:t>•  Görsel 1 — Tracker yerleşimi: bel, femur ve tibia segmentlerine takılan HTC VIVE Ultimate Tracker'lar.</a:t>
            </a:r>
          </a:p>
          <a:p>
            <a:pPr algn="l">
              <a:spcAft>
                <a:spcPts val="100"/>
              </a:spcAft>
            </a:pPr>
            <a:r>
              <a:rPr sz="1000" b="0">
                <a:solidFill>
                  <a:srgbClr val="1A1A1A"/>
                </a:solidFill>
                <a:latin typeface="Calibri"/>
              </a:rPr>
              <a:t>•  Görsel 2 — Unity Editör görünümü: oyun içi sahne, debug göstergeleri ve hierarchy.</a:t>
            </a:r>
          </a:p>
          <a:p>
            <a:pPr algn="l"/>
            <a:r>
              <a:rPr sz="1000" b="0">
                <a:solidFill>
                  <a:srgbClr val="1A1A1A"/>
                </a:solidFill>
                <a:latin typeface="Calibri"/>
              </a:rPr>
              <a:t>•  Görsel 3 — Oturum sonrası kayıt analiz / replay arayüzü.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54</Words>
  <Application>Microsoft Office PowerPoint</Application>
  <PresentationFormat>Özel</PresentationFormat>
  <Paragraphs>18</Paragraphs>
  <Slides>6</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6</vt:i4>
      </vt:variant>
    </vt:vector>
  </HeadingPairs>
  <TitlesOfParts>
    <vt:vector size="10" baseType="lpstr">
      <vt:lpstr>Arial</vt:lpstr>
      <vt:lpstr>Times New Roman Bold</vt:lpstr>
      <vt:lpstr>Calibri</vt:lpstr>
      <vt:lpstr>Office Theme</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Paydaş Toplantı Sunumu.pptx kopyası</dc:title>
  <cp:lastModifiedBy>WiN11</cp:lastModifiedBy>
  <cp:revision>2</cp:revision>
  <dcterms:created xsi:type="dcterms:W3CDTF">2006-08-16T00:00:00Z</dcterms:created>
  <dcterms:modified xsi:type="dcterms:W3CDTF">2026-05-15T10:25:03Z</dcterms:modified>
  <dc:identifier>DAHJt8ajPFA</dc:identifier>
</cp:coreProperties>
</file>